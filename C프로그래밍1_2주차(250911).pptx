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74"/>
  </p:notesMasterIdLst>
  <p:sldIdLst>
    <p:sldId id="313" r:id="rId2"/>
    <p:sldId id="304" r:id="rId3"/>
    <p:sldId id="305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281" r:id="rId12"/>
    <p:sldId id="282" r:id="rId13"/>
    <p:sldId id="257" r:id="rId14"/>
    <p:sldId id="285" r:id="rId15"/>
    <p:sldId id="315" r:id="rId16"/>
    <p:sldId id="316" r:id="rId17"/>
    <p:sldId id="258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324" r:id="rId26"/>
    <p:sldId id="358" r:id="rId27"/>
    <p:sldId id="359" r:id="rId28"/>
    <p:sldId id="360" r:id="rId29"/>
    <p:sldId id="361" r:id="rId30"/>
    <p:sldId id="362" r:id="rId31"/>
    <p:sldId id="363" r:id="rId32"/>
    <p:sldId id="364" r:id="rId33"/>
    <p:sldId id="365" r:id="rId34"/>
    <p:sldId id="366" r:id="rId35"/>
    <p:sldId id="325" r:id="rId36"/>
    <p:sldId id="326" r:id="rId37"/>
    <p:sldId id="284" r:id="rId38"/>
    <p:sldId id="327" r:id="rId39"/>
    <p:sldId id="367" r:id="rId40"/>
    <p:sldId id="328" r:id="rId41"/>
    <p:sldId id="329" r:id="rId42"/>
    <p:sldId id="330" r:id="rId43"/>
    <p:sldId id="331" r:id="rId44"/>
    <p:sldId id="332" r:id="rId45"/>
    <p:sldId id="333" r:id="rId46"/>
    <p:sldId id="334" r:id="rId47"/>
    <p:sldId id="335" r:id="rId48"/>
    <p:sldId id="336" r:id="rId49"/>
    <p:sldId id="337" r:id="rId50"/>
    <p:sldId id="338" r:id="rId51"/>
    <p:sldId id="340" r:id="rId52"/>
    <p:sldId id="341" r:id="rId53"/>
    <p:sldId id="342" r:id="rId54"/>
    <p:sldId id="343" r:id="rId55"/>
    <p:sldId id="344" r:id="rId56"/>
    <p:sldId id="345" r:id="rId57"/>
    <p:sldId id="346" r:id="rId58"/>
    <p:sldId id="670" r:id="rId59"/>
    <p:sldId id="347" r:id="rId60"/>
    <p:sldId id="616" r:id="rId61"/>
    <p:sldId id="617" r:id="rId62"/>
    <p:sldId id="672" r:id="rId63"/>
    <p:sldId id="348" r:id="rId64"/>
    <p:sldId id="349" r:id="rId65"/>
    <p:sldId id="350" r:id="rId66"/>
    <p:sldId id="351" r:id="rId67"/>
    <p:sldId id="352" r:id="rId68"/>
    <p:sldId id="353" r:id="rId69"/>
    <p:sldId id="354" r:id="rId70"/>
    <p:sldId id="355" r:id="rId71"/>
    <p:sldId id="356" r:id="rId72"/>
    <p:sldId id="280" r:id="rId7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  <a:srgbClr val="CC6600"/>
    <a:srgbClr val="FA7D00"/>
    <a:srgbClr val="009900"/>
    <a:srgbClr val="003300"/>
    <a:srgbClr val="668A00"/>
    <a:srgbClr val="987206"/>
    <a:srgbClr val="00CC99"/>
    <a:srgbClr val="CC99FF"/>
    <a:srgbClr val="66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137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6FB2E-A3E5-4494-B57C-3DAD7FCB22C0}" type="datetimeFigureOut">
              <a:rPr lang="ko-KR" altLang="en-US" smtClean="0"/>
              <a:pPr/>
              <a:t>2026-09-10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AE145E-FEB1-4124-ABC3-D0F8DB63AF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/>
              <a:t>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71743363-9283-48A7-BF8D-9C07445A3783}" type="datetimeFigureOut">
              <a:rPr lang="ko-KR" altLang="en-US" smtClean="0"/>
              <a:pPr/>
              <a:t>2026-09-10</a:t>
            </a:fld>
            <a:endParaRPr lang="ko-KR" altLang="en-US" dirty="0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626C3660-C0D1-4068-8793-5F5CFC0449E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직사각형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직사각형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3363-9283-48A7-BF8D-9C07445A3783}" type="datetimeFigureOut">
              <a:rPr lang="ko-KR" altLang="en-US" smtClean="0"/>
              <a:pPr/>
              <a:t>2026-09-10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3660-C0D1-4068-8793-5F5CFC0449E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71743363-9283-48A7-BF8D-9C07445A3783}" type="datetimeFigureOut">
              <a:rPr lang="ko-KR" altLang="en-US" smtClean="0"/>
              <a:pPr/>
              <a:t>2026-09-10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626C3660-C0D1-4068-8793-5F5CFC0449E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3363-9283-48A7-BF8D-9C07445A3783}" type="datetimeFigureOut">
              <a:rPr lang="ko-KR" altLang="en-US" smtClean="0"/>
              <a:pPr/>
              <a:t>2026-09-10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3660-C0D1-4068-8793-5F5CFC0449E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3363-9283-48A7-BF8D-9C07445A3783}" type="datetimeFigureOut">
              <a:rPr lang="ko-KR" altLang="en-US" smtClean="0"/>
              <a:pPr/>
              <a:t>2026-09-10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3660-C0D1-4068-8793-5F5CFC0449E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3363-9283-48A7-BF8D-9C07445A3783}" type="datetimeFigureOut">
              <a:rPr lang="ko-KR" altLang="en-US" smtClean="0"/>
              <a:pPr/>
              <a:t>2026-09-10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3660-C0D1-4068-8793-5F5CFC0449E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이등변 삼각형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3363-9283-48A7-BF8D-9C07445A3783}" type="datetimeFigureOut">
              <a:rPr lang="ko-KR" altLang="en-US" smtClean="0"/>
              <a:pPr/>
              <a:t>2026-09-10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3660-C0D1-4068-8793-5F5CFC0449E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선 연결선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이등변 삼각형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3363-9283-48A7-BF8D-9C07445A3783}" type="datetimeFigureOut">
              <a:rPr lang="ko-KR" altLang="en-US" smtClean="0"/>
              <a:pPr/>
              <a:t>2026-09-10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3660-C0D1-4068-8793-5F5CFC0449E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직선 연결선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직선 연결선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이등변 삼각형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내용 개체 틀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ko-KR" altLang="en-US" dirty="0"/>
              <a:t>그림을 추가하려면 아이콘을 클릭하십시오</a:t>
            </a:r>
            <a:endParaRPr kumimoji="0"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3363-9283-48A7-BF8D-9C07445A3783}" type="datetimeFigureOut">
              <a:rPr lang="ko-KR" altLang="en-US" smtClean="0"/>
              <a:pPr/>
              <a:t>2026-09-10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3660-C0D1-4068-8793-5F5CFC0449E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직선 연결선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이등변 삼각형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3363-9283-48A7-BF8D-9C07445A3783}" type="datetimeFigureOut">
              <a:rPr lang="ko-KR" altLang="en-US" smtClean="0"/>
              <a:pPr/>
              <a:t>2026-09-10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3660-C0D1-4068-8793-5F5CFC0449E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3363-9283-48A7-BF8D-9C07445A3783}" type="datetimeFigureOut">
              <a:rPr lang="ko-KR" altLang="en-US" smtClean="0"/>
              <a:pPr/>
              <a:t>2026-09-10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3660-C0D1-4068-8793-5F5CFC0449E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직선 연결선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이등변 삼각형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직선 연결선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228600" y="931818"/>
            <a:ext cx="8686800" cy="5715000"/>
          </a:xfrm>
        </p:spPr>
        <p:txBody>
          <a:bodyPr/>
          <a:lstStyle>
            <a:lvl1pPr marL="342900" marR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3">
                  <a:lumMod val="50000"/>
                </a:schemeClr>
              </a:buClr>
              <a:buSzTx/>
              <a:buFont typeface="Wingdings" pitchFamily="2" charset="2"/>
              <a:buChar char="v"/>
              <a:tabLst/>
              <a:defRPr/>
            </a:lvl1pPr>
            <a:lvl2pPr marL="539750" marR="0" indent="-182563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300"/>
              </a:spcAft>
              <a:buClr>
                <a:srgbClr val="B1AE6B"/>
              </a:buClr>
              <a:buSzTx/>
              <a:buFont typeface="Wingdings" pitchFamily="2" charset="2"/>
              <a:buChar char="§"/>
              <a:tabLst/>
              <a:defRPr/>
            </a:lvl2pPr>
            <a:lvl3pPr marL="809625" marR="0" indent="-182563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>
                <a:srgbClr val="ADB9AD"/>
              </a:buClr>
              <a:buSzTx/>
              <a:buFontTx/>
              <a:buChar char="•"/>
              <a:tabLst/>
              <a:defRPr/>
            </a:lvl3pPr>
            <a:lvl4pPr marL="1076325" indent="-180975">
              <a:buFont typeface="Arial" pitchFamily="34" charset="0"/>
              <a:buChar char="−"/>
              <a:defRPr sz="1600" b="0">
                <a:latin typeface="맑은 고딕" pitchFamily="50" charset="-127"/>
                <a:ea typeface="맑은 고딕" pitchFamily="50" charset="-127"/>
              </a:defRPr>
            </a:lvl4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F784C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C37E15B-5EF1-4CF3-990F-E067222BD1E2}"/>
              </a:ext>
            </a:extLst>
          </p:cNvPr>
          <p:cNvCxnSpPr/>
          <p:nvPr userDrawn="1"/>
        </p:nvCxnSpPr>
        <p:spPr>
          <a:xfrm>
            <a:off x="0" y="764704"/>
            <a:ext cx="9144000" cy="0"/>
          </a:xfrm>
          <a:prstGeom prst="line">
            <a:avLst/>
          </a:prstGeom>
          <a:ln w="47625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111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/>
              <a:t>둘째 수준</a:t>
            </a:r>
          </a:p>
          <a:p>
            <a:pPr lvl="2" eaLnBrk="1" latinLnBrk="0" hangingPunct="1"/>
            <a:r>
              <a:rPr kumimoji="0" lang="ko-KR" altLang="en-US"/>
              <a:t>셋째 수준</a:t>
            </a:r>
          </a:p>
          <a:p>
            <a:pPr lvl="3" eaLnBrk="1" latinLnBrk="0" hangingPunct="1"/>
            <a:r>
              <a:rPr kumimoji="0" lang="ko-KR" altLang="en-US"/>
              <a:t>넷째 수준</a:t>
            </a:r>
          </a:p>
          <a:p>
            <a:pPr lvl="4" eaLnBrk="1" latinLnBrk="0" hangingPunct="1"/>
            <a:r>
              <a:rPr kumimoji="0" lang="ko-KR" altLang="en-US"/>
              <a:t>다섯째 수준</a:t>
            </a:r>
            <a:endParaRPr kumimoji="0" lang="en-US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1743363-9283-48A7-BF8D-9C07445A3783}" type="datetimeFigureOut">
              <a:rPr lang="ko-KR" altLang="en-US" smtClean="0"/>
              <a:pPr/>
              <a:t>2026-09-10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26C3660-C0D1-4068-8793-5F5CFC0449E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8" name="직선 연결선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직선 연결선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이등변 삼각형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</p:sldLayoutIdLst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1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1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1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1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1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1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1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atomic0x90.github.io/c-language/2019/06/04/printf-format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rocus.co.kr/1171" TargetMode="Externa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hyperlink" Target="https://cw-wd.tistory.com/29" TargetMode="External"/><Relationship Id="rId4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emf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22AD39-A56B-9F7D-B5C9-AD257366B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36912"/>
            <a:ext cx="8229600" cy="990600"/>
          </a:xfrm>
        </p:spPr>
        <p:txBody>
          <a:bodyPr>
            <a:normAutofit fontScale="90000"/>
          </a:bodyPr>
          <a:lstStyle/>
          <a:p>
            <a:pPr algn="r"/>
            <a:r>
              <a:rPr lang="en-US" altLang="ko-KR" dirty="0"/>
              <a:t>C</a:t>
            </a:r>
            <a:r>
              <a:rPr lang="ko-KR" altLang="en-US" dirty="0"/>
              <a:t>프로그래밍</a:t>
            </a:r>
            <a:r>
              <a:rPr lang="en-US" altLang="ko-KR" dirty="0"/>
              <a:t>1 (2</a:t>
            </a:r>
            <a:r>
              <a:rPr lang="ko-KR" altLang="en-US" dirty="0"/>
              <a:t>주차 강의자료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                                 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006F6075-6CAC-0E3A-FDEC-74D2378C862A}"/>
              </a:ext>
            </a:extLst>
          </p:cNvPr>
          <p:cNvSpPr txBox="1">
            <a:spLocks/>
          </p:cNvSpPr>
          <p:nvPr/>
        </p:nvSpPr>
        <p:spPr>
          <a:xfrm>
            <a:off x="609600" y="5174704"/>
            <a:ext cx="8229600" cy="990600"/>
          </a:xfrm>
          <a:prstGeom prst="rect">
            <a:avLst/>
          </a:prstGeom>
        </p:spPr>
        <p:txBody>
          <a:bodyPr vert="horz" anchor="b" anchorCtr="0">
            <a:normAutofit fontScale="97500"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dirty="0"/>
              <a:t>정대식 교수</a:t>
            </a:r>
          </a:p>
        </p:txBody>
      </p:sp>
    </p:spTree>
    <p:extLst>
      <p:ext uri="{BB962C8B-B14F-4D97-AF65-F5344CB8AC3E}">
        <p14:creationId xmlns:p14="http://schemas.microsoft.com/office/powerpoint/2010/main" val="1271933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VC++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에서의 솔루션 생성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endParaRPr lang="ko-KR" altLang="en-US" sz="25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911024" y="50088"/>
            <a:ext cx="2143108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윤성우의 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/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열혈 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/>
            <a:r>
              <a:rPr lang="en-US" altLang="ko-KR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 </a:t>
            </a:r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프로그래밍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988840"/>
            <a:ext cx="6624736" cy="4281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539552" y="1340768"/>
            <a:ext cx="5184576" cy="506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「 </a:t>
            </a:r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Visual C++ Express Edition</a:t>
            </a: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의 실행 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VC++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에서의 솔루션 생성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endParaRPr lang="ko-KR" altLang="en-US" sz="25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911024" y="50088"/>
            <a:ext cx="2143108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윤성우의 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/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열혈 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/>
            <a:r>
              <a:rPr lang="en-US" altLang="ko-KR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 </a:t>
            </a:r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프로그래밍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36" y="1412776"/>
            <a:ext cx="4032448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「 프로그래밍을 위한 작업공간의 마련 」</a:t>
            </a:r>
            <a:endParaRPr lang="en-US" altLang="ko-KR" sz="16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rgbClr val="009999"/>
                </a:solidFill>
                <a:latin typeface="+mn-ea"/>
              </a:rPr>
              <a:t>  </a:t>
            </a:r>
            <a:r>
              <a:rPr lang="ko-KR" altLang="en-US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파일</a:t>
            </a: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(F) → </a:t>
            </a:r>
            <a:r>
              <a:rPr lang="ko-KR" altLang="en-US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새로 만들기</a:t>
            </a: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(N) → </a:t>
            </a:r>
            <a:r>
              <a:rPr lang="ko-KR" altLang="en-US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프로젝트</a:t>
            </a: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(P) </a:t>
            </a:r>
            <a:endParaRPr lang="ko-KR" altLang="en-US" sz="1400" b="1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2040" y="1772816"/>
            <a:ext cx="3730749" cy="2335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2636912"/>
            <a:ext cx="5317085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직사각형 10"/>
          <p:cNvSpPr/>
          <p:nvPr/>
        </p:nvSpPr>
        <p:spPr>
          <a:xfrm>
            <a:off x="3419872" y="3356992"/>
            <a:ext cx="576064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C00000"/>
                </a:solidFill>
                <a:latin typeface="휴먼편지체" pitchFamily="18" charset="-127"/>
                <a:ea typeface="휴먼편지체" pitchFamily="18" charset="-127"/>
              </a:rPr>
              <a:t>선택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0152" y="5085184"/>
            <a:ext cx="2952328" cy="821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rgbClr val="C00000"/>
                </a:solidFill>
                <a:latin typeface="+mn-ea"/>
              </a:rPr>
              <a:t>프로젝트의 이름을 </a:t>
            </a:r>
            <a:r>
              <a:rPr lang="en-US" altLang="ko-KR" sz="1100" b="1" dirty="0">
                <a:solidFill>
                  <a:srgbClr val="C00000"/>
                </a:solidFill>
                <a:latin typeface="+mn-ea"/>
              </a:rPr>
              <a:t>SimpleProject</a:t>
            </a:r>
            <a:r>
              <a:rPr lang="ko-KR" altLang="en-US" sz="1100" b="1" dirty="0">
                <a:solidFill>
                  <a:srgbClr val="C00000"/>
                </a:solidFill>
                <a:latin typeface="+mn-ea"/>
              </a:rPr>
              <a:t>로</a:t>
            </a:r>
            <a:r>
              <a:rPr lang="en-US" altLang="ko-KR" sz="1100" b="1" dirty="0">
                <a:solidFill>
                  <a:srgbClr val="C00000"/>
                </a:solidFill>
                <a:latin typeface="+mn-ea"/>
              </a:rPr>
              <a:t>...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rgbClr val="C00000"/>
                </a:solidFill>
                <a:latin typeface="+mn-ea"/>
              </a:rPr>
              <a:t>프로젝트의 이름을 입력하면 솔루션의 이름은 자동으로 입력된다</a:t>
            </a:r>
            <a:r>
              <a:rPr lang="en-US" altLang="ko-KR" sz="1100" b="1" dirty="0">
                <a:solidFill>
                  <a:srgbClr val="C00000"/>
                </a:solidFill>
                <a:latin typeface="+mn-ea"/>
              </a:rPr>
              <a:t>. </a:t>
            </a:r>
            <a:endParaRPr lang="ko-KR" altLang="en-US" sz="1100" b="1" dirty="0">
              <a:solidFill>
                <a:srgbClr val="C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VC++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에서의 솔루션 생성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3</a:t>
            </a:r>
            <a:endParaRPr lang="ko-KR" altLang="en-US" sz="25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911024" y="50088"/>
            <a:ext cx="2143108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윤성우의 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/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열혈 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/>
            <a:r>
              <a:rPr lang="en-US" altLang="ko-KR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 </a:t>
            </a:r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프로그래밍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2423589"/>
            <a:ext cx="5746973" cy="3597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395536" y="1412776"/>
            <a:ext cx="669674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「 작업공간의 마련을 위한 최종 선택 」</a:t>
            </a:r>
            <a:endParaRPr lang="en-US" altLang="ko-KR" sz="16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rgbClr val="009999"/>
                </a:solidFill>
                <a:latin typeface="+mn-ea"/>
              </a:rPr>
              <a:t>  </a:t>
            </a:r>
            <a:r>
              <a:rPr lang="ko-KR" altLang="en-US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응용 프로그램의 종류에서 </a:t>
            </a:r>
            <a:r>
              <a:rPr lang="ko-KR" altLang="en-US" sz="14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콘솔 응용 프로그램</a:t>
            </a: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추가 옵션에서 </a:t>
            </a:r>
            <a:r>
              <a:rPr lang="ko-KR" altLang="en-US" sz="14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빈 프로젝트</a:t>
            </a:r>
            <a:r>
              <a:rPr lang="ko-KR" altLang="en-US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선택</a:t>
            </a:r>
          </a:p>
        </p:txBody>
      </p:sp>
      <p:sp>
        <p:nvSpPr>
          <p:cNvPr id="9" name="모서리가 둥근 직사각형 8"/>
          <p:cNvSpPr/>
          <p:nvPr/>
        </p:nvSpPr>
        <p:spPr>
          <a:xfrm>
            <a:off x="2123728" y="3730284"/>
            <a:ext cx="1512168" cy="216024"/>
          </a:xfrm>
          <a:prstGeom prst="roundRect">
            <a:avLst>
              <a:gd name="adj" fmla="val 9766"/>
            </a:avLst>
          </a:prstGeom>
          <a:solidFill>
            <a:schemeClr val="accent4">
              <a:lumMod val="75000"/>
              <a:alpha val="2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모서리가 둥근 직사각형 9"/>
          <p:cNvSpPr/>
          <p:nvPr/>
        </p:nvSpPr>
        <p:spPr>
          <a:xfrm>
            <a:off x="2136980" y="4509120"/>
            <a:ext cx="1512168" cy="216024"/>
          </a:xfrm>
          <a:prstGeom prst="roundRect">
            <a:avLst>
              <a:gd name="adj" fmla="val 9766"/>
            </a:avLst>
          </a:prstGeom>
          <a:solidFill>
            <a:schemeClr val="accent4">
              <a:lumMod val="75000"/>
              <a:alpha val="2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433124" y="3573016"/>
            <a:ext cx="576064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rgbClr val="C00000"/>
                </a:solidFill>
                <a:latin typeface="휴먼편지체" pitchFamily="18" charset="-127"/>
                <a:ea typeface="휴먼편지체" pitchFamily="18" charset="-127"/>
              </a:rPr>
              <a:t>선택</a:t>
            </a:r>
            <a:endParaRPr lang="ko-KR" altLang="en-US" sz="1500" dirty="0">
              <a:solidFill>
                <a:srgbClr val="C00000"/>
              </a:solidFill>
              <a:latin typeface="휴먼편지체" pitchFamily="18" charset="-127"/>
              <a:ea typeface="휴먼편지체" pitchFamily="18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433124" y="4368524"/>
            <a:ext cx="576064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C00000"/>
                </a:solidFill>
                <a:latin typeface="휴먼편지체" pitchFamily="18" charset="-127"/>
                <a:ea typeface="휴먼편지체" pitchFamily="18" charset="-127"/>
              </a:rPr>
              <a:t>선택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VC++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에서의 솔루션 생성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4</a:t>
            </a:r>
            <a:endParaRPr lang="ko-KR" altLang="en-US" sz="25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911024" y="50088"/>
            <a:ext cx="2143108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윤성우의 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/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열혈 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/>
            <a:r>
              <a:rPr lang="en-US" altLang="ko-KR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 </a:t>
            </a:r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프로그래밍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2276872"/>
            <a:ext cx="6175027" cy="3940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395536" y="1412776"/>
            <a:ext cx="633670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「 작업공간의 마련 완료</a:t>
            </a:r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」</a:t>
            </a:r>
            <a:endParaRPr lang="en-US" altLang="ko-KR" sz="14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 솔루션 탐색기에서 </a:t>
            </a:r>
            <a:r>
              <a:rPr lang="ko-KR" altLang="en-US" sz="14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솔루션</a:t>
            </a:r>
            <a:r>
              <a:rPr lang="ko-KR" altLang="en-US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과 </a:t>
            </a:r>
            <a:r>
              <a:rPr lang="ko-KR" altLang="en-US" sz="14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프로젝트</a:t>
            </a:r>
            <a:r>
              <a:rPr lang="ko-KR" altLang="en-US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가 생성되었음을 확인할 수 있다</a:t>
            </a: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 </a:t>
            </a:r>
            <a:endParaRPr lang="ko-KR" altLang="en-US" sz="1400" b="1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소스파일의 생성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endParaRPr lang="ko-KR" altLang="en-US" sz="25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911024" y="50088"/>
            <a:ext cx="2143108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윤성우의 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/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열혈 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/>
            <a:r>
              <a:rPr lang="en-US" altLang="ko-KR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 </a:t>
            </a:r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프로그래밍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2348880"/>
            <a:ext cx="4248472" cy="2483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95536" y="1412776"/>
            <a:ext cx="633670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「 새로운 소스파일을 생성하여 프로젝트에 추가 </a:t>
            </a:r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」</a:t>
            </a:r>
            <a:endParaRPr lang="en-US" altLang="ko-KR" sz="14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 솔루션 탐색기의 소스 파일 위치에서 마우스 오른쪽 버튼을 눌러서 추가</a:t>
            </a: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</a:t>
            </a:r>
            <a:endParaRPr lang="ko-KR" altLang="en-US" sz="1400" b="1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소스파일의 생성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endParaRPr lang="ko-KR" altLang="en-US" sz="25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911024" y="50088"/>
            <a:ext cx="2143108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윤성우의 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/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열혈 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/>
            <a:r>
              <a:rPr lang="en-US" altLang="ko-KR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 </a:t>
            </a:r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프로그래밍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2420888"/>
            <a:ext cx="6480720" cy="3645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95536" y="1412776"/>
            <a:ext cx="799288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「 확장자가 </a:t>
            </a:r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.c</a:t>
            </a: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인 소스파일 생성 </a:t>
            </a:r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」</a:t>
            </a:r>
            <a:endParaRPr lang="en-US" altLang="ko-KR" sz="14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확장자에 따라서 컴파일의 형식을 결정</a:t>
            </a: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! </a:t>
            </a:r>
            <a:r>
              <a:rPr lang="ko-KR" altLang="en-US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확장자를 </a:t>
            </a: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.c</a:t>
            </a:r>
            <a:r>
              <a:rPr lang="ko-KR" altLang="en-US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로 해야 </a:t>
            </a: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C</a:t>
            </a:r>
            <a:r>
              <a:rPr lang="ko-KR" altLang="en-US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언어 기반으로 컴파일 한다</a:t>
            </a: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 </a:t>
            </a:r>
            <a:endParaRPr lang="ko-KR" altLang="en-US" sz="1400" b="1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1403648" y="5229200"/>
            <a:ext cx="1512168" cy="216024"/>
          </a:xfrm>
          <a:prstGeom prst="roundRect">
            <a:avLst>
              <a:gd name="adj" fmla="val 9766"/>
            </a:avLst>
          </a:prstGeom>
          <a:solidFill>
            <a:schemeClr val="accent4">
              <a:lumMod val="75000"/>
              <a:alpha val="2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187624" y="4869160"/>
            <a:ext cx="1152128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dirty="0">
                <a:solidFill>
                  <a:srgbClr val="C00000"/>
                </a:solidFill>
                <a:latin typeface="휴먼편지체" pitchFamily="18" charset="-127"/>
                <a:ea typeface="휴먼편지체" pitchFamily="18" charset="-127"/>
              </a:rPr>
              <a:t>확장자 명에 </a:t>
            </a:r>
            <a:endParaRPr lang="en-US" altLang="ko-KR" sz="1500" dirty="0">
              <a:solidFill>
                <a:srgbClr val="C00000"/>
              </a:solidFill>
              <a:latin typeface="휴먼편지체" pitchFamily="18" charset="-127"/>
              <a:ea typeface="휴먼편지체" pitchFamily="18" charset="-127"/>
            </a:endParaRPr>
          </a:p>
          <a:p>
            <a:r>
              <a:rPr lang="ko-KR" altLang="en-US" sz="1500" dirty="0">
                <a:solidFill>
                  <a:srgbClr val="C00000"/>
                </a:solidFill>
                <a:latin typeface="휴먼편지체" pitchFamily="18" charset="-127"/>
                <a:ea typeface="휴먼편지체" pitchFamily="18" charset="-127"/>
              </a:rPr>
              <a:t>특히 주의</a:t>
            </a:r>
            <a:r>
              <a:rPr lang="en-US" altLang="ko-KR" sz="1500" dirty="0">
                <a:solidFill>
                  <a:srgbClr val="C00000"/>
                </a:solidFill>
                <a:latin typeface="휴먼편지체" pitchFamily="18" charset="-127"/>
                <a:ea typeface="휴먼편지체" pitchFamily="18" charset="-127"/>
              </a:rPr>
              <a:t>!</a:t>
            </a:r>
            <a:endParaRPr lang="ko-KR" altLang="en-US" sz="1500" dirty="0">
              <a:solidFill>
                <a:srgbClr val="C00000"/>
              </a:solidFill>
              <a:latin typeface="휴먼편지체" pitchFamily="18" charset="-127"/>
              <a:ea typeface="휴먼편지체" pitchFamily="18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생성된 소스파일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6911024" y="50088"/>
            <a:ext cx="2143108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윤성우의 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/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열혈 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/>
            <a:r>
              <a:rPr lang="en-US" altLang="ko-KR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 </a:t>
            </a:r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프로그래밍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2060848"/>
            <a:ext cx="5904656" cy="3768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95536" y="1412776"/>
            <a:ext cx="6840760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「 소스파일 생성 완료 </a:t>
            </a:r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」</a:t>
            </a:r>
            <a:endParaRPr lang="en-US" altLang="ko-KR" sz="14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생성된 소스파일과 프로그램의 입력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6911024" y="50088"/>
            <a:ext cx="2143108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윤성우의 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/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열혈 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/>
            <a:r>
              <a:rPr lang="en-US" altLang="ko-KR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 </a:t>
            </a:r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프로그래밍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2339142"/>
            <a:ext cx="5400600" cy="3446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직사각형 5"/>
          <p:cNvSpPr/>
          <p:nvPr/>
        </p:nvSpPr>
        <p:spPr>
          <a:xfrm>
            <a:off x="2411760" y="3789040"/>
            <a:ext cx="230425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b="1" dirty="0">
                <a:latin typeface="+mn-ea"/>
              </a:rPr>
              <a:t>#include &lt;stdio.h&gt;</a:t>
            </a:r>
          </a:p>
          <a:p>
            <a:endParaRPr lang="en-US" altLang="ko-KR" sz="1000" b="1" dirty="0">
              <a:latin typeface="+mn-ea"/>
            </a:endParaRPr>
          </a:p>
          <a:p>
            <a:r>
              <a:rPr lang="en-US" altLang="ko-KR" sz="1000" b="1" dirty="0">
                <a:latin typeface="+mn-ea"/>
              </a:rPr>
              <a:t>int main(void)</a:t>
            </a:r>
          </a:p>
          <a:p>
            <a:r>
              <a:rPr lang="en-US" altLang="ko-KR" sz="1000" b="1" dirty="0">
                <a:latin typeface="+mn-ea"/>
              </a:rPr>
              <a:t>{</a:t>
            </a:r>
          </a:p>
          <a:p>
            <a:r>
              <a:rPr lang="en-US" altLang="ko-KR" sz="1000" b="1" dirty="0">
                <a:latin typeface="+mn-ea"/>
              </a:rPr>
              <a:t>    printf("Hello world! \n");</a:t>
            </a:r>
          </a:p>
          <a:p>
            <a:r>
              <a:rPr lang="en-US" altLang="ko-KR" sz="1000" b="1" dirty="0">
                <a:latin typeface="+mn-ea"/>
              </a:rPr>
              <a:t>    return 0;</a:t>
            </a:r>
          </a:p>
          <a:p>
            <a:r>
              <a:rPr lang="en-US" altLang="ko-KR" sz="1000" b="1" dirty="0">
                <a:latin typeface="+mn-ea"/>
              </a:rPr>
              <a:t>}</a:t>
            </a:r>
            <a:endParaRPr lang="ko-KR" altLang="en-US" sz="1000" b="1" dirty="0">
              <a:latin typeface="+mn-ea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339752" y="3717032"/>
            <a:ext cx="2160240" cy="1286406"/>
          </a:xfrm>
          <a:prstGeom prst="roundRect">
            <a:avLst>
              <a:gd name="adj" fmla="val 3179"/>
            </a:avLst>
          </a:prstGeom>
          <a:solidFill>
            <a:schemeClr val="accent4">
              <a:lumMod val="75000"/>
              <a:alpha val="2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4427984" y="4643398"/>
            <a:ext cx="576064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C00000"/>
                </a:solidFill>
                <a:latin typeface="휴먼편지체" pitchFamily="18" charset="-127"/>
                <a:ea typeface="휴먼편지체" pitchFamily="18" charset="-127"/>
              </a:rP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536" y="1412776"/>
            <a:ext cx="799288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「 소스코드의 입력 </a:t>
            </a:r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」</a:t>
            </a:r>
            <a:endParaRPr lang="en-US" altLang="ko-KR" sz="14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생성된 소스파일에 소스코드를 입력한다</a:t>
            </a: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  <a:endParaRPr lang="ko-KR" altLang="en-US" sz="1400" b="1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컴파일 및 실행결과 확인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6911024" y="50088"/>
            <a:ext cx="2143108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윤성우의 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/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열혈 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/>
            <a:r>
              <a:rPr lang="en-US" altLang="ko-KR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 </a:t>
            </a:r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프로그래밍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2348880"/>
            <a:ext cx="3816424" cy="2282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4847882"/>
            <a:ext cx="6192688" cy="1258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95536" y="1412776"/>
            <a:ext cx="799288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「 컴파일과 실행결과의 확인 </a:t>
            </a:r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」</a:t>
            </a:r>
            <a:endParaRPr lang="en-US" altLang="ko-KR" sz="14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생성된 소스파일에 소스코드를 입력한다</a:t>
            </a: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  <a:endParaRPr lang="ko-KR" altLang="en-US" sz="1400" b="1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3227491"/>
            <a:ext cx="3781425" cy="147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직사각형 7"/>
          <p:cNvSpPr/>
          <p:nvPr/>
        </p:nvSpPr>
        <p:spPr>
          <a:xfrm>
            <a:off x="6732240" y="5639970"/>
            <a:ext cx="1224136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dirty="0">
                <a:solidFill>
                  <a:srgbClr val="C00000"/>
                </a:solidFill>
                <a:latin typeface="휴먼편지체" pitchFamily="18" charset="-127"/>
                <a:ea typeface="휴먼편지체" pitchFamily="18" charset="-127"/>
              </a:rPr>
              <a:t>컴파일 결과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596336" y="2795443"/>
            <a:ext cx="936104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dirty="0">
                <a:solidFill>
                  <a:srgbClr val="C00000"/>
                </a:solidFill>
                <a:latin typeface="휴먼편지체" pitchFamily="18" charset="-127"/>
                <a:ea typeface="휴먼편지체" pitchFamily="18" charset="-127"/>
              </a:rPr>
              <a:t>실행결과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4906888" cy="704832"/>
          </a:xfrm>
        </p:spPr>
        <p:txBody>
          <a:bodyPr>
            <a:normAutofit/>
          </a:bodyPr>
          <a:lstStyle/>
          <a:p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언어는 프로그래밍 언어이다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ko-KR" altLang="en-US" sz="25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911024" y="50088"/>
            <a:ext cx="2143108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윤성우의 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/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열혈 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/>
            <a:r>
              <a:rPr lang="en-US" altLang="ko-KR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 </a:t>
            </a:r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프로그래밍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524948"/>
            <a:ext cx="3888432" cy="2048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4186870"/>
            <a:ext cx="4032448" cy="1474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4499992" y="1628800"/>
            <a:ext cx="449999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프로그래밍 언어란 무엇인가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사람과 컴파일러가 이해할 수 있는 약속된 형태의 언어를 의미한다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 C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언어도 프로그래밍 언어 중 하나이다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컴파일러는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프로그래밍 언어로 작성된 프로그램을 컴퓨터가 이해할 수 있는 기계어로 번역하는 역할을 한다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√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기계어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(Machine Language)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란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컴퓨터가 이해할 수 있는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과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로 구성된 형태의 언어를 뜻함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C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언어를 공부한다는 것은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문법을 이해하는 것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표현능력을 향상시키는 것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많이 사용할수록 표현에 능숙해진다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다른 이의 표현을 참조할수록 표현이 부드러워진다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언어의 역사와 특징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560" y="1484784"/>
            <a:ext cx="81369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C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언어의 역사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1971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년경 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UNIX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라는 운영체제의 개발을 위해 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Dennis Ritchie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와 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Ken Thompson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이 함께 설계한 범용적인 고급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(high-level)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언어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근원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: ALGOL 60(1960) ▶ CPL(1963) ▶ BCPL(1969) ▶ B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언어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(1970)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C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언어 등장 이전의 유닉스 개발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어셈블리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(assemlby) 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언어라는 저급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(low-level)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언어로 만들어졌었다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그런데 어셈블리 언어는 하드웨어에 따라서 그 구성이 달라지기 때문에 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CPU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 별로 유닉스를 각각 개발해야만 했다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 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 </a:t>
            </a: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√ C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언어 등장 이후 유닉스 개발</a:t>
            </a:r>
            <a:endParaRPr lang="en-US" altLang="ko-KR" sz="12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언어의 구성은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CPU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에 따라 나뉘지 않기 때문에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CPU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별로 유닉스를 각각 개발할 필요가 없다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√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고급언어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?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저급언어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사람이 이해하기 쉬운 언어는 고급언어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기계어에 가까울 수록 저급언어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언어는 고급언어이면서 메모리에 직접 접근이 가능하기 때문에 저급언어의 특성도 함께 지닌다고 이야기 한다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911024" y="50088"/>
            <a:ext cx="2143108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윤성우의 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/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열혈 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/>
            <a:r>
              <a:rPr lang="en-US" altLang="ko-KR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 </a:t>
            </a:r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프로그래밍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언어의 장점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6911024" y="50088"/>
            <a:ext cx="2143108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윤성우의 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/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열혈 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/>
            <a:r>
              <a:rPr lang="en-US" altLang="ko-KR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 </a:t>
            </a:r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프로그래밍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1560" y="1484784"/>
            <a:ext cx="8136904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언어는 절차지향적 특성을 지닌다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.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따라서 쉽게 익숙해질 수 있다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인간의 사고하는 방식과 유사하다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언어로 작성된 프로그램은 이식성이 좋다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CPU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에 따라 프로그램을 재작성할 필요가 없다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그러나 근래에는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언어보다 이식성이 훨씬 뛰어난 언어들이 등장하고 있어서 장점으로 부각시키기에는 한계가 있다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언어로 구현된 프로그램은 좋은 성능을 보인다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언어를 이용하면 메모리의 사용량을 줄일 수 있고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속도를 저하시키는 요소들을 최소화 할 수 있다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단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잘못 구현하면 오히려 성능이 좋지 못한 프로그램이 만들어지기도 한다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C</a:t>
            </a:r>
            <a:r>
              <a:rPr lang="ko-KR" altLang="en-US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언어의 장점은 앞으로 </a:t>
            </a: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C</a:t>
            </a:r>
            <a:r>
              <a:rPr lang="ko-KR" altLang="en-US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언어를 공부해 나가면서 보다 정확히 이해하게 된다</a:t>
            </a: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en-US" altLang="ko-KR" sz="2500" dirty="0">
                <a:solidFill>
                  <a:srgbClr val="FF0000"/>
                </a:solidFill>
                <a:latin typeface="+mn-ea"/>
                <a:ea typeface="+mn-ea"/>
              </a:rPr>
              <a:t>C </a:t>
            </a:r>
            <a:r>
              <a:rPr lang="ko-KR" altLang="en-US" sz="2500" dirty="0">
                <a:solidFill>
                  <a:srgbClr val="FF0000"/>
                </a:solidFill>
                <a:latin typeface="+mn-ea"/>
                <a:ea typeface="+mn-ea"/>
              </a:rPr>
              <a:t>프로그램 완성과정의 전체적인 이해</a:t>
            </a:r>
            <a:r>
              <a:rPr lang="en-US" altLang="ko-KR" sz="250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ko-KR" altLang="en-US" sz="2500" dirty="0">
                <a:solidFill>
                  <a:srgbClr val="FF0000"/>
                </a:solidFill>
                <a:latin typeface="+mn-ea"/>
                <a:ea typeface="+mn-ea"/>
              </a:rPr>
              <a:t>중요</a:t>
            </a:r>
            <a:r>
              <a:rPr lang="en-US" altLang="ko-KR" sz="250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endParaRPr lang="ko-KR" altLang="en-US" sz="25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911024" y="50088"/>
            <a:ext cx="2143108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윤성우의 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/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열혈 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/>
            <a:r>
              <a:rPr lang="en-US" altLang="ko-KR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 </a:t>
            </a:r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프로그래밍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556792"/>
            <a:ext cx="3245561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4427984" y="4296578"/>
            <a:ext cx="38164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4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∙ 첫 번째 단계 </a:t>
            </a:r>
            <a:r>
              <a:rPr lang="en-US" altLang="ko-KR" sz="14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  </a:t>
            </a:r>
            <a:r>
              <a:rPr lang="ko-KR" altLang="en-US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프로그램의 작성</a:t>
            </a:r>
            <a:endParaRPr lang="en-US" altLang="ko-KR" sz="1400" b="1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14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∙ 두 번째 단계 </a:t>
            </a:r>
            <a:r>
              <a:rPr lang="en-US" altLang="ko-KR" sz="14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  </a:t>
            </a:r>
            <a:r>
              <a:rPr lang="ko-KR" altLang="en-US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작성한 프로그램의 컴파일</a:t>
            </a:r>
            <a:endParaRPr lang="en-US" altLang="ko-KR" sz="1400" b="1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14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∙ 세 번째 단계 </a:t>
            </a:r>
            <a:r>
              <a:rPr lang="en-US" altLang="ko-KR" sz="14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  </a:t>
            </a:r>
            <a:r>
              <a:rPr lang="ko-KR" altLang="en-US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컴파일 된 결과물의 링크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4906888" cy="704832"/>
          </a:xfrm>
        </p:spPr>
        <p:txBody>
          <a:bodyPr>
            <a:normAutofit fontScale="90000"/>
          </a:bodyPr>
          <a:lstStyle/>
          <a:p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언어의 기본단위인 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‘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함수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’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의 이해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911024" y="50088"/>
            <a:ext cx="2143108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윤성우의 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/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열혈 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/>
            <a:r>
              <a:rPr lang="en-US" altLang="ko-KR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 </a:t>
            </a:r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프로그래밍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52120" y="2409428"/>
            <a:ext cx="2524125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539552" y="1340768"/>
            <a:ext cx="712879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√ C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언어의 기본단위는 함수이다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함수를 만들고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만들어진 함수의 실행순서를 결정하는 것이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언어로 프로그램을 작성하는 것이다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함수의 기본특성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수학적으로 함수에는 입력과 출력이 존재한다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  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√ C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언어의 함수</a:t>
            </a:r>
            <a:endParaRPr lang="en-US" altLang="ko-KR" sz="12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언어의 함수에도 입력과 출력이 존재한다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C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언어의 함수와 관련된 용어의 정리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   ∙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함수의 정의    만들어진 함수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실행이 가능한 함수를 일컬음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(Function Define)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   ∙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함수의 호출    함수의 실행을 명령하는 행위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(Function Call)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   ∙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인자의 전달    함수의 실행을 명령할 때 전달하는 입력 값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 (Parameter) 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3568" y="5517232"/>
            <a:ext cx="662473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C</a:t>
            </a:r>
            <a:r>
              <a:rPr lang="ko-KR" altLang="en-US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언어는 함수로 시작해서 함수로 끝이 난다</a:t>
            </a: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4906888" cy="704832"/>
          </a:xfrm>
        </p:spPr>
        <p:txBody>
          <a:bodyPr>
            <a:normAutofit fontScale="90000"/>
          </a:bodyPr>
          <a:lstStyle/>
          <a:p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언어의 기본단위인 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‘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함수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’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의 이해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(2)</a:t>
            </a:r>
            <a:endParaRPr lang="ko-KR" altLang="en-US" sz="25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343AA05-08D8-5CEE-5AEF-6E57CA524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28800"/>
            <a:ext cx="4114800" cy="384884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F102399-95BD-1ED8-8E16-E3F3F216C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283" y="2248600"/>
            <a:ext cx="3961048" cy="320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822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ko-KR" sz="29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Hello world! </a:t>
            </a:r>
            <a:r>
              <a:rPr lang="ko-KR" altLang="en-US" sz="29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들여다보기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14282" y="214290"/>
            <a:ext cx="8715436" cy="6429420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15074" y="1571612"/>
            <a:ext cx="97155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58082" y="1785926"/>
            <a:ext cx="10953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32574" y="1664376"/>
            <a:ext cx="33337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12086" y="2402364"/>
            <a:ext cx="4381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215338" y="2500306"/>
            <a:ext cx="495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429652" y="1857364"/>
            <a:ext cx="32385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786578" y="857232"/>
            <a:ext cx="6477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643834" y="1071546"/>
            <a:ext cx="1028700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8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 rot="19550150">
            <a:off x="7252041" y="1319198"/>
            <a:ext cx="54292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4" name="Picture 16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429520" y="714356"/>
            <a:ext cx="2667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5" name="Picture 1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715272" y="785794"/>
            <a:ext cx="2667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6" name="Picture 18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072462" y="714356"/>
            <a:ext cx="32385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4906888" cy="704832"/>
          </a:xfrm>
        </p:spPr>
        <p:txBody>
          <a:bodyPr>
            <a:normAutofit fontScale="90000"/>
          </a:bodyPr>
          <a:lstStyle/>
          <a:p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언어의 기본단위인 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‘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함수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’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의 이해</a:t>
            </a:r>
          </a:p>
        </p:txBody>
      </p:sp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52120" y="2409428"/>
            <a:ext cx="2524125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539552" y="1340768"/>
            <a:ext cx="712879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C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언어의 기본단위는 함수이다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함수를 만들고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만들어진 함수의 실행순서를 결정하는 것이 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C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언어로 프로그램을 작성하는 것이다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함수의 기본특성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수학적으로 함수에는 입력과 출력이 존재한다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  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C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언어의 함수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C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언어의 함수에도 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입력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과 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출력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이 존재한다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C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언어의 함수와 관련된 용어의 정리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∙ 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함수의 정의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 만들어진 함수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실행이 가능한 함수를 일컬음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∙ 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함수의 호출   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함수의 실행을 명령하는 행위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∙ 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인자의 전달   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함수의 실행을 명령할 때 전달하는 입력 값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3568" y="5517232"/>
            <a:ext cx="662473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C</a:t>
            </a:r>
            <a:r>
              <a:rPr lang="ko-KR" altLang="en-US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언어는 함수로 시작해서 함수로 끝이 난다</a:t>
            </a: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예제 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Hello.c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에서의 함수는 어디에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?</a:t>
            </a:r>
            <a:endParaRPr lang="ko-KR" altLang="en-US" sz="25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7544" y="1484784"/>
            <a:ext cx="54726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프로그램의 시작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첫 번째 함수가 호출이 되면서 프로그램은 시작이 된다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제일 먼저 호출되는 함수는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? 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main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이라는 이름의 함수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! 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따라서 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C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언어로 구현된 모든 프로그램은 시작점에 해당하는 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main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이라는 이름의 함수를 반드시 정의해야 한다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즉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, main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이라는 이름의 함수가 자동으로 호출이 되면서 프로그램은 실행된다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함수의 기능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함수의 기능은 중괄호 안에 표현이 되며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중괄호 안에 표현된 함수의 기능을 가리켜 함수의 몸체라 한다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C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언어의 함수에 표시가 되는 세 가지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∙ 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함수의 이름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 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함수를 호출할 때 사용하게 되는 이름</a:t>
            </a: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∙ 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출력형태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 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실행의 결과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! 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일반적으로 반환형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(return type)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이라 한다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∙ 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입력형태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 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함수를 호출할 때 전달하는 입력 값의 형태</a:t>
            </a: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7583" y="1556792"/>
            <a:ext cx="2650881" cy="2247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2159" y="4437112"/>
            <a:ext cx="2890119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직선 화살표 연결선 7"/>
          <p:cNvCxnSpPr/>
          <p:nvPr/>
        </p:nvCxnSpPr>
        <p:spPr>
          <a:xfrm rot="5400000">
            <a:off x="6012160" y="5301208"/>
            <a:ext cx="720080" cy="1588"/>
          </a:xfrm>
          <a:prstGeom prst="straightConnector1">
            <a:avLst/>
          </a:prstGeom>
          <a:ln w="19050">
            <a:solidFill>
              <a:srgbClr val="FFC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6156176" y="5664668"/>
            <a:ext cx="1797024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C00000"/>
                </a:solidFill>
                <a:latin typeface="휴먼편지체" pitchFamily="18" charset="-127"/>
                <a:ea typeface="휴먼편지체" pitchFamily="18" charset="-127"/>
              </a:rPr>
              <a:t>순차적으로 실행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세미콜론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560" y="1484784"/>
            <a:ext cx="813690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함수 내에 존재하는 문장의 끝에는 세미콜론 문자 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;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을 붙여준다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세미콜론은 문장의 끝을 표현하기 위한 문자이다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열 줄에 표현된 코드는 열 개의 문장인가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하나의 문장이 둘 이상의 줄에 표시될 수도 있고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한 줄에 둘 이상의 문장이 표시될 수도 있다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즉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줄 바뀜은 문장의 바뀜을 뜻하는 것이 아니다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한 줄에 하나의 문장을 표시하는 것이 가장 일반적이고 또 보기도 좋다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.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다음 세 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main 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함수는 모두 동일한 프로그램이다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 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줄 바뀜의 차이가 프로그램의 차이로 이어지지 않는다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3923928" y="4482616"/>
            <a:ext cx="230425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+mn-ea"/>
              </a:rPr>
              <a:t>int main(void)</a:t>
            </a:r>
          </a:p>
          <a:p>
            <a:r>
              <a:rPr lang="en-US" altLang="ko-KR" sz="1200" dirty="0">
                <a:latin typeface="+mn-ea"/>
              </a:rPr>
              <a:t>{</a:t>
            </a:r>
          </a:p>
          <a:p>
            <a:r>
              <a:rPr lang="en-US" altLang="ko-KR" sz="1200" dirty="0">
                <a:latin typeface="+mn-ea"/>
              </a:rPr>
              <a:t>    printf("Hello world! \n");</a:t>
            </a:r>
          </a:p>
          <a:p>
            <a:r>
              <a:rPr lang="en-US" altLang="ko-KR" sz="1200" dirty="0">
                <a:latin typeface="+mn-ea"/>
              </a:rPr>
              <a:t>    return 0;</a:t>
            </a:r>
          </a:p>
          <a:p>
            <a:r>
              <a:rPr lang="en-US" altLang="ko-KR" sz="1200" dirty="0">
                <a:latin typeface="+mn-ea"/>
              </a:rPr>
              <a:t>}</a:t>
            </a:r>
            <a:endParaRPr lang="ko-KR" altLang="en-US" sz="1200" dirty="0">
              <a:latin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27584" y="4542219"/>
            <a:ext cx="27363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+mn-ea"/>
              </a:rPr>
              <a:t>int main(void)</a:t>
            </a:r>
          </a:p>
          <a:p>
            <a:r>
              <a:rPr lang="en-US" altLang="ko-KR" sz="1200" dirty="0">
                <a:latin typeface="+mn-ea"/>
              </a:rPr>
              <a:t>{</a:t>
            </a:r>
          </a:p>
          <a:p>
            <a:r>
              <a:rPr lang="en-US" altLang="ko-KR" sz="1200" dirty="0">
                <a:latin typeface="+mn-ea"/>
              </a:rPr>
              <a:t>    printf("Hello world! \n"); return 0;</a:t>
            </a:r>
          </a:p>
          <a:p>
            <a:r>
              <a:rPr lang="en-US" altLang="ko-KR" sz="1200" dirty="0">
                <a:latin typeface="+mn-ea"/>
              </a:rPr>
              <a:t>}</a:t>
            </a:r>
            <a:endParaRPr lang="ko-KR" altLang="en-US" sz="12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27584" y="5805264"/>
            <a:ext cx="3888432" cy="288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+mn-ea"/>
              </a:rPr>
              <a:t>int main(void) { printf("Hello world! \n"); return 0; }</a:t>
            </a:r>
            <a:endParaRPr lang="ko-KR" altLang="en-US" sz="1200" dirty="0">
              <a:latin typeface="+mn-ea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3851920" y="4437112"/>
            <a:ext cx="2448272" cy="1080120"/>
          </a:xfrm>
          <a:prstGeom prst="roundRect">
            <a:avLst>
              <a:gd name="adj" fmla="val 4857"/>
            </a:avLst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755576" y="4437112"/>
            <a:ext cx="3024336" cy="1080120"/>
          </a:xfrm>
          <a:prstGeom prst="roundRect">
            <a:avLst>
              <a:gd name="adj" fmla="val 4857"/>
            </a:avLst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모서리가 둥근 직사각형 9"/>
          <p:cNvSpPr/>
          <p:nvPr/>
        </p:nvSpPr>
        <p:spPr>
          <a:xfrm>
            <a:off x="755576" y="5661248"/>
            <a:ext cx="3888432" cy="576064"/>
          </a:xfrm>
          <a:prstGeom prst="roundRect">
            <a:avLst>
              <a:gd name="adj" fmla="val 4857"/>
            </a:avLst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소스코드의 세세한 분석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683568" y="1484784"/>
            <a:ext cx="3096344" cy="2125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dirty="0">
                <a:latin typeface="+mn-ea"/>
              </a:rPr>
              <a:t>#include &lt;stdio.h&gt;</a:t>
            </a:r>
          </a:p>
          <a:p>
            <a:pPr>
              <a:lnSpc>
                <a:spcPct val="150000"/>
              </a:lnSpc>
            </a:pPr>
            <a:r>
              <a:rPr lang="en-US" altLang="ko-KR" sz="1500" dirty="0">
                <a:latin typeface="+mn-ea"/>
              </a:rPr>
              <a:t>int main(void)</a:t>
            </a:r>
          </a:p>
          <a:p>
            <a:pPr>
              <a:lnSpc>
                <a:spcPct val="150000"/>
              </a:lnSpc>
            </a:pPr>
            <a:r>
              <a:rPr lang="en-US" altLang="ko-KR" sz="1500" dirty="0">
                <a:latin typeface="+mn-ea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ko-KR" sz="1500" dirty="0">
                <a:latin typeface="+mn-ea"/>
              </a:rPr>
              <a:t>    printf("Hello world! \n");</a:t>
            </a:r>
          </a:p>
          <a:p>
            <a:pPr>
              <a:lnSpc>
                <a:spcPct val="150000"/>
              </a:lnSpc>
            </a:pPr>
            <a:r>
              <a:rPr lang="en-US" altLang="ko-KR" sz="1500" dirty="0">
                <a:latin typeface="+mn-ea"/>
              </a:rPr>
              <a:t>    return 0;</a:t>
            </a:r>
          </a:p>
          <a:p>
            <a:pPr>
              <a:lnSpc>
                <a:spcPct val="150000"/>
              </a:lnSpc>
            </a:pPr>
            <a:r>
              <a:rPr lang="en-US" altLang="ko-KR" sz="1500" dirty="0">
                <a:latin typeface="+mn-ea"/>
              </a:rPr>
              <a:t>}</a:t>
            </a:r>
            <a:endParaRPr lang="ko-KR" altLang="en-US" sz="1500" dirty="0">
              <a:latin typeface="+mn-ea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539552" y="1340768"/>
            <a:ext cx="3600400" cy="2448272"/>
          </a:xfrm>
          <a:prstGeom prst="roundRect">
            <a:avLst>
              <a:gd name="adj" fmla="val 2626"/>
            </a:avLst>
          </a:prstGeom>
          <a:noFill/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971600" y="2604660"/>
            <a:ext cx="2448272" cy="288032"/>
          </a:xfrm>
          <a:prstGeom prst="roundRect">
            <a:avLst>
              <a:gd name="adj" fmla="val 9766"/>
            </a:avLst>
          </a:prstGeom>
          <a:solidFill>
            <a:schemeClr val="accent4">
              <a:lumMod val="75000"/>
              <a:alpha val="2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1619672" y="2276872"/>
            <a:ext cx="2304256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C00000"/>
                </a:solidFill>
                <a:latin typeface="휴먼편지체" pitchFamily="18" charset="-127"/>
                <a:ea typeface="휴먼편지체" pitchFamily="18" charset="-127"/>
              </a:rPr>
              <a:t>처음 보는 함수의 호출문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9992" y="3633991"/>
            <a:ext cx="4392488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printf("Hello world! \n");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∙ printf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라는 이름의 함수를 호출하는 문장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∙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인자는 문자열 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"Hello world! \n"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∙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인자는 소괄호를 통해서 해당 함수에 전달이 된다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552" y="4005064"/>
            <a:ext cx="3600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표준함수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이미 만들어져서 기본적으로 제공이 되는 함수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! 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printf 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함수는 표준함수이다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표준 라이브러리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표준함수들의 모임을 뜻하는 말이다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즉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, printf 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함수는 표준 라이브러리의 일부이다</a:t>
            </a: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683568" y="1570044"/>
            <a:ext cx="1800200" cy="288032"/>
          </a:xfrm>
          <a:prstGeom prst="roundRect">
            <a:avLst>
              <a:gd name="adj" fmla="val 9766"/>
            </a:avLst>
          </a:prstGeom>
          <a:solidFill>
            <a:schemeClr val="accent4">
              <a:lumMod val="75000"/>
              <a:alpha val="2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2411760" y="1628800"/>
            <a:ext cx="1656184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C00000"/>
                </a:solidFill>
                <a:latin typeface="휴먼편지체" pitchFamily="18" charset="-127"/>
                <a:ea typeface="휴먼편지체" pitchFamily="18" charset="-127"/>
              </a:rPr>
              <a:t>헤더파일 선언문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9992" y="2193831"/>
            <a:ext cx="4392488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#include &lt;stdio.h&gt;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∙ stdio.h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파일의 내용을 이 위치에 가져다 놓으라는 뜻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∙ printf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함수의 호출을 위해서 선언해야 하는 문장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∙ stdio.h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파일에는 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printf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함수호출에 필요한 정보 존재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971600" y="2964700"/>
            <a:ext cx="1080120" cy="320284"/>
          </a:xfrm>
          <a:prstGeom prst="roundRect">
            <a:avLst>
              <a:gd name="adj" fmla="val 9766"/>
            </a:avLst>
          </a:prstGeom>
          <a:solidFill>
            <a:schemeClr val="accent4">
              <a:lumMod val="75000"/>
              <a:alpha val="2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4499992" y="5051792"/>
            <a:ext cx="4392488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return 0;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∙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함수를 호출한 영역으로 값을 전달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반환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∙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현재 실행중인 함수의 종료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주석의 필요성과 블록단위 주석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1560" y="1484784"/>
            <a:ext cx="81369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주석의 이해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주석은 소스코드에 삽입된 메모를 뜻한다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 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이는 컴파일의 대상에서 제외가 되기 때문에 주석의 유무는 컴파일 및 실행의 결과에 영향을 미치지 않는다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주석의 필요성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코드의 분석은 글을 읽는 것 만큼 간단하지 않다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 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때문에 코드를 분석해야 하는 남을 위해서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그리고 코드를 작성한 작성자 스스로를 위해서라도 코드에 대한 설명인 주석을 간단히나마 달아놓을 필요가 있다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 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즉 </a:t>
            </a:r>
            <a:r>
              <a:rPr lang="ko-KR" altLang="en-US" sz="1200" b="1" dirty="0">
                <a:solidFill>
                  <a:srgbClr val="987206"/>
                </a:solidFill>
                <a:latin typeface="+mn-ea"/>
              </a:rPr>
              <a:t>주석은 선택이 아닌 필수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이다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블록 단위 주석                                             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행 단위 주석                                                                                              </a:t>
            </a: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418" y="4437112"/>
            <a:ext cx="1751350" cy="1584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85456" y="4437112"/>
            <a:ext cx="1512168" cy="708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모서리가 둥근 직사각형 9"/>
          <p:cNvSpPr/>
          <p:nvPr/>
        </p:nvSpPr>
        <p:spPr>
          <a:xfrm>
            <a:off x="755576" y="4437112"/>
            <a:ext cx="1800200" cy="360040"/>
          </a:xfrm>
          <a:prstGeom prst="roundRect">
            <a:avLst>
              <a:gd name="adj" fmla="val 9766"/>
            </a:avLst>
          </a:prstGeom>
          <a:solidFill>
            <a:schemeClr val="accent4">
              <a:lumMod val="75000"/>
              <a:alpha val="2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755576" y="4869160"/>
            <a:ext cx="1800200" cy="1224136"/>
          </a:xfrm>
          <a:prstGeom prst="roundRect">
            <a:avLst>
              <a:gd name="adj" fmla="val 5165"/>
            </a:avLst>
          </a:prstGeom>
          <a:solidFill>
            <a:schemeClr val="accent4">
              <a:lumMod val="75000"/>
              <a:alpha val="2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4139952" y="4365104"/>
            <a:ext cx="1800200" cy="864096"/>
          </a:xfrm>
          <a:prstGeom prst="roundRect">
            <a:avLst>
              <a:gd name="adj" fmla="val 5165"/>
            </a:avLst>
          </a:prstGeom>
          <a:solidFill>
            <a:schemeClr val="accent4">
              <a:lumMod val="75000"/>
              <a:alpha val="2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1979712" y="4077072"/>
            <a:ext cx="1751350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C00000"/>
                </a:solidFill>
                <a:latin typeface="휴먼편지체" pitchFamily="18" charset="-127"/>
                <a:ea typeface="휴먼편지체" pitchFamily="18" charset="-127"/>
              </a:rPr>
              <a:t>한 행의 주석처리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907704" y="6024708"/>
            <a:ext cx="1872208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C00000"/>
                </a:solidFill>
                <a:latin typeface="휴먼편지체" pitchFamily="18" charset="-127"/>
                <a:ea typeface="휴먼편지체" pitchFamily="18" charset="-127"/>
              </a:rPr>
              <a:t>여러 행의 주석처리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5868144" y="4797152"/>
            <a:ext cx="2304256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C00000"/>
                </a:solidFill>
                <a:latin typeface="휴먼편지체" pitchFamily="18" charset="-127"/>
                <a:ea typeface="휴먼편지체" pitchFamily="18" charset="-127"/>
              </a:rPr>
              <a:t>한 행 단위로의 주석처리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9952" y="5517232"/>
            <a:ext cx="4032448" cy="61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주석을 다는 방식은 </a:t>
            </a:r>
            <a:endParaRPr lang="en-US" altLang="ko-KR" sz="1200" b="1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프로젝트 별로 팀원과 상의하여 결정하게 된다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주석처리에 있어서의 주의점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7" y="1484784"/>
            <a:ext cx="2649094" cy="135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3334494"/>
            <a:ext cx="2376264" cy="1284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모서리가 둥근 직사각형 9"/>
          <p:cNvSpPr/>
          <p:nvPr/>
        </p:nvSpPr>
        <p:spPr>
          <a:xfrm>
            <a:off x="683568" y="1412776"/>
            <a:ext cx="2808312" cy="1512168"/>
          </a:xfrm>
          <a:prstGeom prst="roundRect">
            <a:avLst>
              <a:gd name="adj" fmla="val 2626"/>
            </a:avLst>
          </a:prstGeom>
          <a:noFill/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563888" y="2564904"/>
            <a:ext cx="3600400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dirty="0">
                <a:solidFill>
                  <a:srgbClr val="C00000"/>
                </a:solidFill>
                <a:latin typeface="휴먼편지체" pitchFamily="18" charset="-127"/>
                <a:ea typeface="휴먼편지체" pitchFamily="18" charset="-127"/>
              </a:rPr>
              <a:t>잘못 달린 주석</a:t>
            </a:r>
            <a:r>
              <a:rPr lang="en-US" altLang="ko-KR" sz="1500" dirty="0">
                <a:solidFill>
                  <a:srgbClr val="C00000"/>
                </a:solidFill>
                <a:latin typeface="휴먼편지체" pitchFamily="18" charset="-127"/>
                <a:ea typeface="휴먼편지체" pitchFamily="18" charset="-127"/>
              </a:rPr>
              <a:t>(</a:t>
            </a:r>
            <a:r>
              <a:rPr lang="ko-KR" altLang="en-US" sz="1500" dirty="0">
                <a:solidFill>
                  <a:srgbClr val="C00000"/>
                </a:solidFill>
                <a:latin typeface="휴먼편지체" pitchFamily="18" charset="-127"/>
                <a:ea typeface="휴먼편지체" pitchFamily="18" charset="-127"/>
              </a:rPr>
              <a:t>컴파일 시 오류 발생</a:t>
            </a:r>
            <a:r>
              <a:rPr lang="en-US" altLang="ko-KR" sz="1500" dirty="0">
                <a:solidFill>
                  <a:srgbClr val="C00000"/>
                </a:solidFill>
                <a:latin typeface="휴먼편지체" pitchFamily="18" charset="-127"/>
                <a:ea typeface="휴먼편지체" pitchFamily="18" charset="-127"/>
              </a:rPr>
              <a:t>)</a:t>
            </a:r>
            <a:endParaRPr lang="ko-KR" altLang="en-US" sz="1500" dirty="0">
              <a:solidFill>
                <a:srgbClr val="C00000"/>
              </a:solidFill>
              <a:latin typeface="휴먼편지체" pitchFamily="18" charset="-127"/>
              <a:ea typeface="휴먼편지체" pitchFamily="18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683568" y="3284984"/>
            <a:ext cx="2808312" cy="1440160"/>
          </a:xfrm>
          <a:prstGeom prst="roundRect">
            <a:avLst>
              <a:gd name="adj" fmla="val 2626"/>
            </a:avLst>
          </a:prstGeom>
          <a:noFill/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3563888" y="4437112"/>
            <a:ext cx="3960440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dirty="0">
                <a:solidFill>
                  <a:srgbClr val="C00000"/>
                </a:solidFill>
                <a:latin typeface="휴먼편지체" pitchFamily="18" charset="-127"/>
                <a:ea typeface="휴먼편지체" pitchFamily="18" charset="-127"/>
              </a:rPr>
              <a:t>잘 달린 주석</a:t>
            </a:r>
            <a:r>
              <a:rPr lang="en-US" altLang="ko-KR" sz="1500" dirty="0">
                <a:solidFill>
                  <a:srgbClr val="C00000"/>
                </a:solidFill>
                <a:latin typeface="휴먼편지체" pitchFamily="18" charset="-127"/>
                <a:ea typeface="휴먼편지체" pitchFamily="18" charset="-127"/>
              </a:rPr>
              <a:t>(</a:t>
            </a:r>
            <a:r>
              <a:rPr lang="ko-KR" altLang="en-US" sz="1500" dirty="0">
                <a:solidFill>
                  <a:srgbClr val="C00000"/>
                </a:solidFill>
                <a:latin typeface="휴먼편지체" pitchFamily="18" charset="-127"/>
                <a:ea typeface="휴먼편지체" pitchFamily="18" charset="-127"/>
              </a:rPr>
              <a:t>컴파일 시 오류 발생하지 않음</a:t>
            </a:r>
            <a:r>
              <a:rPr lang="en-US" altLang="ko-KR" sz="1500" dirty="0">
                <a:solidFill>
                  <a:srgbClr val="C00000"/>
                </a:solidFill>
                <a:latin typeface="휴먼편지체" pitchFamily="18" charset="-127"/>
                <a:ea typeface="휴먼편지체" pitchFamily="18" charset="-127"/>
              </a:rPr>
              <a:t>)</a:t>
            </a:r>
            <a:endParaRPr lang="ko-KR" altLang="en-US" sz="1500" dirty="0">
              <a:solidFill>
                <a:srgbClr val="C00000"/>
              </a:solidFill>
              <a:latin typeface="휴먼편지체" pitchFamily="18" charset="-127"/>
              <a:ea typeface="휴먼편지체" pitchFamily="18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5576" y="5230941"/>
            <a:ext cx="756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CC6600"/>
                </a:solidFill>
                <a:latin typeface="+mn-ea"/>
              </a:rPr>
              <a:t>주석을 달다 보면 주석이 겹치는</a:t>
            </a:r>
            <a:r>
              <a:rPr lang="en-US" altLang="ko-KR" sz="1200" b="1" dirty="0">
                <a:solidFill>
                  <a:srgbClr val="CC6600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rgbClr val="CC6600"/>
                </a:solidFill>
                <a:latin typeface="+mn-ea"/>
              </a:rPr>
              <a:t>중첩되는</a:t>
            </a:r>
            <a:r>
              <a:rPr lang="en-US" altLang="ko-KR" sz="1200" b="1" dirty="0">
                <a:solidFill>
                  <a:srgbClr val="CC6600"/>
                </a:solidFill>
                <a:latin typeface="+mn-ea"/>
              </a:rPr>
              <a:t>) </a:t>
            </a:r>
            <a:r>
              <a:rPr lang="ko-KR" altLang="en-US" sz="1200" b="1" dirty="0">
                <a:solidFill>
                  <a:srgbClr val="CC6600"/>
                </a:solidFill>
                <a:latin typeface="+mn-ea"/>
              </a:rPr>
              <a:t>경우가 발생하기도 한다</a:t>
            </a:r>
            <a:r>
              <a:rPr lang="en-US" altLang="ko-KR" sz="1200" b="1" dirty="0">
                <a:solidFill>
                  <a:srgbClr val="CC6600"/>
                </a:solidFill>
                <a:latin typeface="+mn-ea"/>
              </a:rPr>
              <a:t>. </a:t>
            </a:r>
            <a:r>
              <a:rPr lang="ko-KR" altLang="en-US" sz="1200" b="1" dirty="0">
                <a:solidFill>
                  <a:srgbClr val="CC6600"/>
                </a:solidFill>
                <a:latin typeface="+mn-ea"/>
              </a:rPr>
              <a:t>그런데 블록 단위 주석은 겹치는 형태로 달 수 없다</a:t>
            </a:r>
            <a:r>
              <a:rPr lang="en-US" altLang="ko-KR" sz="1200" b="1" dirty="0">
                <a:solidFill>
                  <a:srgbClr val="CC6600"/>
                </a:solidFill>
                <a:latin typeface="+mn-ea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996138" cy="990600"/>
          </a:xfrm>
        </p:spPr>
        <p:txBody>
          <a:bodyPr>
            <a:noAutofit/>
          </a:bodyPr>
          <a:lstStyle/>
          <a:p>
            <a:pPr algn="l"/>
            <a:r>
              <a:rPr lang="en-US" altLang="ko-KR" sz="2800" dirty="0" err="1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printf</a:t>
            </a:r>
            <a:r>
              <a:rPr lang="en-US" altLang="ko-KR" sz="28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28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함수의 기본적인 이해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14282" y="214290"/>
            <a:ext cx="8715436" cy="6429420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15074" y="1571612"/>
            <a:ext cx="97155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58082" y="1785926"/>
            <a:ext cx="10953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32574" y="1664376"/>
            <a:ext cx="33337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12086" y="2402364"/>
            <a:ext cx="4381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215338" y="2500306"/>
            <a:ext cx="495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429652" y="1857364"/>
            <a:ext cx="32385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786578" y="857232"/>
            <a:ext cx="6477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643834" y="1071546"/>
            <a:ext cx="1028700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8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 rot="19550150">
            <a:off x="7252041" y="1319198"/>
            <a:ext cx="54292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4" name="Picture 16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429520" y="714356"/>
            <a:ext cx="2667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5" name="Picture 1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715272" y="785794"/>
            <a:ext cx="2667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6" name="Picture 18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072462" y="714356"/>
            <a:ext cx="32385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printf 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함수를 이용한 정수의 출력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484784"/>
            <a:ext cx="2304256" cy="1359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29068" y="2172612"/>
            <a:ext cx="1440160" cy="651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직사각형 15"/>
          <p:cNvSpPr/>
          <p:nvPr/>
        </p:nvSpPr>
        <p:spPr>
          <a:xfrm>
            <a:off x="2811556" y="1759564"/>
            <a:ext cx="1008112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00B050"/>
                </a:solidFill>
                <a:latin typeface="휴먼편지체" pitchFamily="18" charset="-127"/>
                <a:ea typeface="휴먼편지체" pitchFamily="18" charset="-127"/>
              </a:rPr>
              <a:t>실행결과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44008" y="1484784"/>
            <a:ext cx="4220344" cy="1327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539552" y="3212976"/>
            <a:ext cx="52565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%d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 ∙ 문자열에 삽입된 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%d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를 가리켜 </a:t>
            </a:r>
            <a:r>
              <a:rPr lang="en-US" altLang="ko-KR" sz="1200" b="1" dirty="0">
                <a:solidFill>
                  <a:srgbClr val="737C22"/>
                </a:solidFill>
                <a:latin typeface="+mn-ea"/>
              </a:rPr>
              <a:t>‘</a:t>
            </a:r>
            <a:r>
              <a:rPr lang="ko-KR" altLang="en-US" sz="1200" b="1" dirty="0">
                <a:solidFill>
                  <a:srgbClr val="737C22"/>
                </a:solidFill>
                <a:latin typeface="+mn-ea"/>
              </a:rPr>
              <a:t>서식문자</a:t>
            </a:r>
            <a:r>
              <a:rPr lang="en-US" altLang="ko-KR" sz="1200" b="1" dirty="0">
                <a:solidFill>
                  <a:srgbClr val="737C22"/>
                </a:solidFill>
                <a:latin typeface="+mn-ea"/>
              </a:rPr>
              <a:t>’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라 한다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 ∙ 서식문자는 출력의 형태를 지정하는 용도로 사용이 된다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 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∙ 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%d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는 부호가 있는 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10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진수 정수의 형태로 출력하라는 의미를 담는다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!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출력의 대상은</a:t>
            </a:r>
            <a:r>
              <a:rPr lang="en-US" altLang="ko-KR" sz="1400" b="1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? 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 ∙ 큰 따옴표로 표시되는 문자열의 뒤에 이어서 표시를 하며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 ∙ 콤마로 각각을 구분한다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 ∙ 서식문자 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%d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가 두 개 등장하면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출력의 대상도 두 개 등장해야 한다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6136" y="3513782"/>
            <a:ext cx="31683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737C22"/>
                </a:solidFill>
                <a:latin typeface="+mn-ea"/>
              </a:rPr>
              <a:t>\n</a:t>
            </a:r>
            <a:r>
              <a:rPr lang="ko-KR" altLang="en-US" sz="1200" b="1" dirty="0">
                <a:solidFill>
                  <a:srgbClr val="CC6600"/>
                </a:solidFill>
                <a:latin typeface="+mn-ea"/>
              </a:rPr>
              <a:t>은 </a:t>
            </a:r>
            <a:r>
              <a:rPr lang="ko-KR" altLang="en-US" sz="1200" b="1" dirty="0">
                <a:solidFill>
                  <a:srgbClr val="737C22"/>
                </a:solidFill>
                <a:latin typeface="+mn-ea"/>
              </a:rPr>
              <a:t>이스케이프 시퀀스</a:t>
            </a:r>
            <a:r>
              <a:rPr lang="en-US" altLang="ko-KR" sz="1200" b="1" dirty="0">
                <a:solidFill>
                  <a:srgbClr val="737C22"/>
                </a:solidFill>
                <a:latin typeface="+mn-ea"/>
              </a:rPr>
              <a:t>(escape sequence) </a:t>
            </a:r>
            <a:r>
              <a:rPr lang="ko-KR" altLang="en-US" sz="1200" b="1" dirty="0">
                <a:solidFill>
                  <a:srgbClr val="CC6600"/>
                </a:solidFill>
                <a:latin typeface="+mn-ea"/>
              </a:rPr>
              <a:t>또는</a:t>
            </a:r>
            <a:r>
              <a:rPr lang="en-US" altLang="ko-KR" sz="1200" b="1" dirty="0">
                <a:solidFill>
                  <a:srgbClr val="CC6600"/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rgbClr val="737C22"/>
                </a:solidFill>
                <a:latin typeface="+mn-ea"/>
              </a:rPr>
              <a:t>특수문자</a:t>
            </a:r>
            <a:r>
              <a:rPr lang="ko-KR" altLang="en-US" sz="1200" b="1" dirty="0">
                <a:solidFill>
                  <a:srgbClr val="CC6600"/>
                </a:solidFill>
                <a:latin typeface="+mn-ea"/>
              </a:rPr>
              <a:t>라 불리며 개 행을 의미하는 용도로 사용된다</a:t>
            </a:r>
            <a:r>
              <a:rPr lang="en-US" altLang="ko-KR" sz="1200" b="1" dirty="0">
                <a:solidFill>
                  <a:srgbClr val="CC6600"/>
                </a:solidFill>
                <a:latin typeface="+mn-ea"/>
              </a:rPr>
              <a:t>.</a:t>
            </a:r>
            <a:r>
              <a:rPr lang="ko-KR" altLang="en-US" sz="1200" b="1" dirty="0">
                <a:solidFill>
                  <a:srgbClr val="CC6600"/>
                </a:solidFill>
                <a:latin typeface="+mn-ea"/>
              </a:rPr>
              <a:t> </a:t>
            </a:r>
            <a:endParaRPr lang="en-US" altLang="ko-KR" sz="1200" b="1" dirty="0">
              <a:solidFill>
                <a:srgbClr val="CC66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74CE8-25FE-E86F-4DDB-1A1F9E1D4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b="1" i="0" dirty="0">
                <a:solidFill>
                  <a:srgbClr val="FF0000"/>
                </a:solidFill>
                <a:effectLst/>
                <a:latin typeface="Roboto Slab" pitchFamily="2" charset="0"/>
              </a:rPr>
              <a:t>형식 지정자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Roboto Slab" pitchFamily="2" charset="0"/>
              </a:rPr>
              <a:t>(</a:t>
            </a:r>
            <a:r>
              <a:rPr lang="en" altLang="ko-Kore-KR" b="1" i="0" dirty="0">
                <a:solidFill>
                  <a:srgbClr val="FF0000"/>
                </a:solidFill>
                <a:effectLst/>
                <a:latin typeface="Roboto Slab" pitchFamily="2" charset="0"/>
              </a:rPr>
              <a:t>format specifiers)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128FC7-9F43-8D6D-708A-98418D844BFB}"/>
              </a:ext>
            </a:extLst>
          </p:cNvPr>
          <p:cNvSpPr txBox="1"/>
          <p:nvPr/>
        </p:nvSpPr>
        <p:spPr>
          <a:xfrm>
            <a:off x="755576" y="1268760"/>
            <a:ext cx="685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ore-KR" altLang="en-US" dirty="0">
                <a:hlinkClick r:id="rId2"/>
              </a:rPr>
              <a:t>https://atomic0x90.github.io/c-language/2019/06/04/printf-format.html</a:t>
            </a:r>
            <a:r>
              <a:rPr lang="ko-KR" altLang="en-US" dirty="0"/>
              <a:t> </a:t>
            </a:r>
            <a:endParaRPr lang="ko-Kore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FDC076-BE9A-6FD4-7B98-25BEEA62DC5A}"/>
              </a:ext>
            </a:extLst>
          </p:cNvPr>
          <p:cNvSpPr txBox="1"/>
          <p:nvPr/>
        </p:nvSpPr>
        <p:spPr>
          <a:xfrm>
            <a:off x="457200" y="1748030"/>
            <a:ext cx="8229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i="0" dirty="0">
                <a:solidFill>
                  <a:srgbClr val="333333"/>
                </a:solidFill>
                <a:effectLst/>
                <a:latin typeface="Roboto Slab" pitchFamily="2" charset="0"/>
              </a:rPr>
              <a:t>형식 지정자</a:t>
            </a:r>
            <a:r>
              <a:rPr lang="en-US" altLang="ko-KR" b="1" i="0" dirty="0">
                <a:solidFill>
                  <a:srgbClr val="333333"/>
                </a:solidFill>
                <a:effectLst/>
                <a:latin typeface="Roboto Slab" pitchFamily="2" charset="0"/>
              </a:rPr>
              <a:t>(</a:t>
            </a:r>
            <a:r>
              <a:rPr lang="en" altLang="ko-Kore-KR" b="1" i="0" dirty="0">
                <a:solidFill>
                  <a:srgbClr val="333333"/>
                </a:solidFill>
                <a:effectLst/>
                <a:latin typeface="Roboto Slab" pitchFamily="2" charset="0"/>
              </a:rPr>
              <a:t>format specifiers)</a:t>
            </a:r>
            <a:r>
              <a:rPr lang="ko-KR" altLang="en-US" b="1" i="0" dirty="0">
                <a:solidFill>
                  <a:srgbClr val="333333"/>
                </a:solidFill>
                <a:effectLst/>
                <a:latin typeface="Roboto Slab" pitchFamily="2" charset="0"/>
              </a:rPr>
              <a:t>란</a:t>
            </a:r>
            <a:r>
              <a:rPr lang="en-US" altLang="ko-KR" b="1" i="0" dirty="0">
                <a:solidFill>
                  <a:srgbClr val="333333"/>
                </a:solidFill>
                <a:effectLst/>
                <a:latin typeface="Roboto Slab" pitchFamily="2" charset="0"/>
              </a:rPr>
              <a:t>?</a:t>
            </a:r>
          </a:p>
          <a:p>
            <a:pPr algn="l"/>
            <a:r>
              <a:rPr lang="ko-KR" altLang="en-US" b="0" i="0" dirty="0">
                <a:solidFill>
                  <a:srgbClr val="333333"/>
                </a:solidFill>
                <a:effectLst/>
                <a:latin typeface="Open Sans" panose="020F0502020204030204" pitchFamily="34" charset="0"/>
              </a:rPr>
              <a:t>데이터들은 각자 다른 형태로 존재한다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Open Sans" panose="020F0502020204030204" pitchFamily="34" charset="0"/>
              </a:rPr>
              <a:t>이러한 다양한 데이터들을 화면에 출력하기 위해서 각각 형식 지정자들이 있다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Open Sans" panose="020F0502020204030204" pitchFamily="34" charset="0"/>
              </a:rPr>
              <a:t>.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Open Sans" panose="020F0502020204030204" pitchFamily="34" charset="0"/>
              </a:rPr>
              <a:t>데이터에 알맞지 않은 형태의 형식 지정자를 사용하면 오류가 발생한다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Open Sans" panose="020F0502020204030204" pitchFamily="34" charset="0"/>
              </a:rPr>
              <a:t>.</a:t>
            </a:r>
          </a:p>
          <a:p>
            <a:br>
              <a:rPr lang="ko-KR" altLang="en-US" dirty="0"/>
            </a:br>
            <a:endParaRPr lang="ko-Kore-KR" altLang="en-US" dirty="0"/>
          </a:p>
        </p:txBody>
      </p:sp>
      <p:pic>
        <p:nvPicPr>
          <p:cNvPr id="11" name="그림 10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5FA3A6A1-0434-EE2E-9079-C6FAB963A3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924944"/>
            <a:ext cx="4533811" cy="3616164"/>
          </a:xfrm>
          <a:prstGeom prst="rect">
            <a:avLst/>
          </a:prstGeom>
        </p:spPr>
      </p:pic>
      <p:pic>
        <p:nvPicPr>
          <p:cNvPr id="13" name="그림 12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F36E281C-A2FC-86C5-C512-977C1A3AB8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7329" y="2950028"/>
            <a:ext cx="3869580" cy="285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9795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정수의 출력에 사용된 서식문자 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%d</a:t>
            </a:r>
            <a:endParaRPr lang="ko-KR" altLang="en-US" sz="25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3743672"/>
            <a:ext cx="5324475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1628800"/>
            <a:ext cx="3744416" cy="1703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출력의 형태를 다양하게 조합하는 것이 가능하다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ko-KR" altLang="en-US" sz="25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628800"/>
            <a:ext cx="3543300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67944" y="1988840"/>
            <a:ext cx="14859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직사각형 7"/>
          <p:cNvSpPr/>
          <p:nvPr/>
        </p:nvSpPr>
        <p:spPr>
          <a:xfrm>
            <a:off x="3995936" y="1632220"/>
            <a:ext cx="1008112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00B050"/>
                </a:solidFill>
                <a:latin typeface="휴먼편지체" pitchFamily="18" charset="-127"/>
                <a:ea typeface="휴먼편지체" pitchFamily="18" charset="-127"/>
              </a:rPr>
              <a:t>실행결과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536" y="3356992"/>
            <a:ext cx="5257800" cy="272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5724128" y="3429000"/>
            <a:ext cx="31683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CC6600"/>
                </a:solidFill>
                <a:latin typeface="+mn-ea"/>
              </a:rPr>
              <a:t>이후에는 보다 다양한 서식문자를 공부하게 된다</a:t>
            </a:r>
            <a:r>
              <a:rPr lang="en-US" altLang="ko-KR" sz="1200" b="1" dirty="0">
                <a:solidFill>
                  <a:srgbClr val="CC6600"/>
                </a:solidFill>
                <a:latin typeface="+mn-ea"/>
              </a:rPr>
              <a:t>. </a:t>
            </a:r>
            <a:r>
              <a:rPr lang="ko-KR" altLang="en-US" sz="1200" b="1" dirty="0">
                <a:solidFill>
                  <a:srgbClr val="CC6600"/>
                </a:solidFill>
                <a:latin typeface="+mn-ea"/>
              </a:rPr>
              <a:t>그리고 그렇게 되면 보다 다양한 형태로 출력의 형태를 조합할 수 있게 된다</a:t>
            </a:r>
            <a:r>
              <a:rPr lang="en-US" altLang="ko-KR" sz="1200" b="1" dirty="0">
                <a:solidFill>
                  <a:srgbClr val="CC6600"/>
                </a:solidFill>
                <a:latin typeface="+mn-ea"/>
              </a:rPr>
              <a:t>.</a:t>
            </a:r>
            <a:r>
              <a:rPr lang="ko-KR" altLang="en-US" sz="1200" b="1" dirty="0">
                <a:solidFill>
                  <a:srgbClr val="CC6600"/>
                </a:solidFill>
                <a:latin typeface="+mn-ea"/>
              </a:rPr>
              <a:t> </a:t>
            </a:r>
            <a:endParaRPr lang="en-US" altLang="ko-KR" sz="1200" b="1" dirty="0">
              <a:solidFill>
                <a:srgbClr val="CC66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/>
            <a:r>
              <a:rPr lang="ko-KR" altLang="en-US" sz="29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연산을 위한 연산자와 값의 저장을 위한 변수</a:t>
            </a:r>
            <a:r>
              <a:rPr lang="en-US" altLang="ko-KR" sz="29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(Variable)</a:t>
            </a:r>
            <a:endParaRPr lang="ko-KR" altLang="en-US" sz="290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14282" y="214290"/>
            <a:ext cx="8715436" cy="6429420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15074" y="1571612"/>
            <a:ext cx="97155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58082" y="1785926"/>
            <a:ext cx="10953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32574" y="1664376"/>
            <a:ext cx="33337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12086" y="2402364"/>
            <a:ext cx="4381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215338" y="2500306"/>
            <a:ext cx="495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429652" y="1857364"/>
            <a:ext cx="32385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786578" y="857232"/>
            <a:ext cx="6477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643834" y="1071546"/>
            <a:ext cx="1028700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8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 rot="19550150">
            <a:off x="7252041" y="1319198"/>
            <a:ext cx="54292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4" name="Picture 16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429520" y="714356"/>
            <a:ext cx="2667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5" name="Picture 1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715272" y="785794"/>
            <a:ext cx="2667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6" name="Picture 18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072462" y="714356"/>
            <a:ext cx="32385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6059016" cy="704832"/>
          </a:xfrm>
        </p:spPr>
        <p:txBody>
          <a:bodyPr>
            <a:no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덧셈 프로그램의 구현에 필요한 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+ 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연산자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911024" y="50088"/>
            <a:ext cx="2143108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윤성우의 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/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열혈 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r"/>
            <a:r>
              <a:rPr lang="en-US" altLang="ko-KR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 </a:t>
            </a:r>
            <a:r>
              <a:rPr lang="ko-KR" altLang="en-US" sz="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프로그래밍</a:t>
            </a:r>
            <a:endParaRPr lang="en-US" altLang="ko-K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700808"/>
            <a:ext cx="2638425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827584" y="2996952"/>
            <a:ext cx="662473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+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 ∙ 컴파일 및 실행 시 문제가 발생하지 않으므로 인식 가능한 기호임이 확실하다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 ∙ 실제로 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+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는 덧셈의 의미를 갖는다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 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따라서 실행으로 인해서 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3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과 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4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의 합이 진행이 된다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 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∙ 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+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와 같은 기호를 가리켜 연산자라 한다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연산의 결과는</a:t>
            </a:r>
            <a:r>
              <a:rPr lang="en-US" altLang="ko-KR" sz="1400" b="1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 ∙ 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+ 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연산만 요구를 하였지 그 결과를 출력하기 위한 어떠한 코드도 삽입되지 않았다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 ∙ 따라서 아무런 출력도 이뤄지지 않는다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 ∙ 연산의 결과를 저장해 둬야 원하는 바를 추가로 진행할 수 있다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 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∙ 연산결과 또는 값의 저장을 위해서 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C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언어에서는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변수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(variable)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이라는 것을 제공한다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 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3275856" y="2424308"/>
            <a:ext cx="3960440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dirty="0">
                <a:solidFill>
                  <a:srgbClr val="C00000"/>
                </a:solidFill>
                <a:latin typeface="휴먼편지체" pitchFamily="18" charset="-127"/>
                <a:ea typeface="휴먼편지체" pitchFamily="18" charset="-127"/>
              </a:rPr>
              <a:t>실행결과로는 아무것도 나타나지 않습니다</a:t>
            </a:r>
            <a:r>
              <a:rPr lang="en-US" altLang="ko-KR" sz="1500" dirty="0">
                <a:solidFill>
                  <a:srgbClr val="C00000"/>
                </a:solidFill>
                <a:latin typeface="휴먼편지체" pitchFamily="18" charset="-127"/>
                <a:ea typeface="휴먼편지체" pitchFamily="18" charset="-127"/>
              </a:rPr>
              <a:t>.</a:t>
            </a:r>
            <a:endParaRPr lang="ko-KR" altLang="en-US" sz="1500" dirty="0">
              <a:solidFill>
                <a:srgbClr val="C00000"/>
              </a:solidFill>
              <a:latin typeface="휴먼편지체" pitchFamily="18" charset="-127"/>
              <a:ea typeface="휴먼편지체" pitchFamily="18" charset="-127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변수를 이용한 데이터의 저장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544" y="1268760"/>
            <a:ext cx="8856984" cy="1995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√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변수란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?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(variable)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  <a:sym typeface="Wingdings" pitchFamily="2" charset="2"/>
              </a:rPr>
              <a:t>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  <a:sym typeface="Wingdings" pitchFamily="2" charset="2"/>
              </a:rPr>
              <a:t>즉 프로그램 안에서 코드로 인해 할당 받은 메모리 공간을 의미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  <a:sym typeface="Wingdings" pitchFamily="2" charset="2"/>
              </a:rPr>
              <a:t>!!</a:t>
            </a:r>
            <a:endParaRPr lang="en-US" altLang="ko-KR" sz="12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값을 저장할 수 있는 메모리 공간에 붙여진 이름</a:t>
            </a: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변수라는 것을 선언하면 메모리 공간이 할당되고 할당된 메모리 공간에 이름이 붙는다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√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변수의 이름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  <a:sym typeface="Wingdings" pitchFamily="2" charset="2"/>
              </a:rPr>
              <a:t>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  <a:sym typeface="Wingdings" pitchFamily="2" charset="2"/>
              </a:rPr>
              <a:t> 즉 할당 받은 메모리 공간의 식별자를 변수 이름이라고 하면 영어로는 식별자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  <a:sym typeface="Wingdings" pitchFamily="2" charset="2"/>
              </a:rPr>
              <a:t>(identifier)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  <a:sym typeface="Wingdings" pitchFamily="2" charset="2"/>
              </a:rPr>
              <a:t>한다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  <a:sym typeface="Wingdings" pitchFamily="2" charset="2"/>
              </a:rPr>
              <a:t>.</a:t>
            </a:r>
            <a:endParaRPr lang="en-US" altLang="ko-KR" sz="12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변수의 이름을 통해서 할당된 메모리 공간에 접근이 가능하다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값을 저장할 수도 있고 저장된 값을 참조할 수도 있다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72" y="3675899"/>
            <a:ext cx="6264696" cy="2364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int num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∙ int	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정수의 저장을 위한 메모리 공간의 할당 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(int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는 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4byte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할당 받음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∙ num 	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할당된 메모리 공간의 이름은 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num</a:t>
            </a:r>
          </a:p>
          <a:p>
            <a:pPr>
              <a:lnSpc>
                <a:spcPct val="150000"/>
              </a:lnSpc>
            </a:pPr>
            <a:endParaRPr lang="en-US" altLang="ko-KR" sz="5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num=20;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∙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변수 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num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에 접근하여 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20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을 저장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5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printf("%d", num);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∙ num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에 저장된 값을 참조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출력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4033" y="3743536"/>
            <a:ext cx="2009775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모서리가 둥근 직사각형 12"/>
          <p:cNvSpPr/>
          <p:nvPr/>
        </p:nvSpPr>
        <p:spPr>
          <a:xfrm>
            <a:off x="755576" y="3717032"/>
            <a:ext cx="2304256" cy="1800200"/>
          </a:xfrm>
          <a:prstGeom prst="roundRect">
            <a:avLst>
              <a:gd name="adj" fmla="val 2626"/>
            </a:avLst>
          </a:prstGeom>
          <a:noFill/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rgbClr val="FF0000"/>
                </a:solidFill>
                <a:latin typeface="+mn-ea"/>
                <a:ea typeface="+mn-ea"/>
              </a:rPr>
              <a:t>변수를 이용한 데이터의 저장</a:t>
            </a:r>
            <a:r>
              <a:rPr lang="en-US" altLang="ko-KR" sz="2500" dirty="0">
                <a:solidFill>
                  <a:srgbClr val="FF0000"/>
                </a:solidFill>
                <a:latin typeface="+mn-ea"/>
                <a:ea typeface="+mn-ea"/>
              </a:rPr>
              <a:t>(2)</a:t>
            </a:r>
            <a:endParaRPr lang="ko-KR" altLang="en-US" sz="25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pic>
        <p:nvPicPr>
          <p:cNvPr id="4" name="그림 3" descr="텍스트, 스크린샷, 도표, 라인이(가) 표시된 사진&#10;&#10;자동 생성된 설명">
            <a:extLst>
              <a:ext uri="{FF2B5EF4-FFF2-40B4-BE49-F238E27FC236}">
                <a16:creationId xmlns:a16="http://schemas.microsoft.com/office/drawing/2014/main" id="{14749FC6-A205-D668-F162-A4BFBF117A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95" y="2534792"/>
            <a:ext cx="5004048" cy="37025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22D25A-418F-1877-3CCC-F2FBC5A56674}"/>
              </a:ext>
            </a:extLst>
          </p:cNvPr>
          <p:cNvSpPr txBox="1"/>
          <p:nvPr/>
        </p:nvSpPr>
        <p:spPr>
          <a:xfrm>
            <a:off x="576064" y="630932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ore-KR" altLang="en-US" dirty="0">
                <a:hlinkClick r:id="rId3"/>
              </a:rPr>
              <a:t>https://www.crocus.co.kr/1171</a:t>
            </a:r>
            <a:r>
              <a:rPr lang="ko-KR" altLang="en-US" dirty="0"/>
              <a:t> </a:t>
            </a:r>
            <a:endParaRPr lang="ko-Kore-KR" altLang="en-US" dirty="0"/>
          </a:p>
        </p:txBody>
      </p:sp>
      <p:pic>
        <p:nvPicPr>
          <p:cNvPr id="12" name="그림 11" descr="텍스트, 폰트, 영수증, 화이트이(가) 표시된 사진&#10;&#10;자동 생성된 설명">
            <a:extLst>
              <a:ext uri="{FF2B5EF4-FFF2-40B4-BE49-F238E27FC236}">
                <a16:creationId xmlns:a16="http://schemas.microsoft.com/office/drawing/2014/main" id="{22966BDB-59B2-A4AB-D1AE-0C19C60362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52" y="1268759"/>
            <a:ext cx="4572272" cy="11940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1034A0C-5009-8830-AF5F-E27DBE733CA2}"/>
              </a:ext>
            </a:extLst>
          </p:cNvPr>
          <p:cNvSpPr txBox="1"/>
          <p:nvPr/>
        </p:nvSpPr>
        <p:spPr>
          <a:xfrm>
            <a:off x="4114800" y="633687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ore-KR" altLang="en-US" dirty="0">
                <a:hlinkClick r:id="rId5"/>
              </a:rPr>
              <a:t>https://cw-wd.tistory.com/29</a:t>
            </a:r>
            <a:r>
              <a:rPr lang="ko-KR" altLang="en-US" dirty="0"/>
              <a:t> </a:t>
            </a:r>
            <a:endParaRPr lang="ko-Kore-KR" altLang="en-US" dirty="0"/>
          </a:p>
        </p:txBody>
      </p:sp>
      <p:pic>
        <p:nvPicPr>
          <p:cNvPr id="17" name="그림 16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AA36ADCB-A608-B12F-87F3-F23FF5FF54D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2780928"/>
            <a:ext cx="3477209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5160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변수의 다양한 선언 및 초기화 방법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484784"/>
            <a:ext cx="5267325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63884" y="3212976"/>
            <a:ext cx="3086100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직사각형 12"/>
          <p:cNvSpPr/>
          <p:nvPr/>
        </p:nvSpPr>
        <p:spPr>
          <a:xfrm>
            <a:off x="5724128" y="2780928"/>
            <a:ext cx="1008112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00B050"/>
                </a:solidFill>
                <a:latin typeface="휴먼편지체" pitchFamily="18" charset="-127"/>
                <a:ea typeface="휴먼편지체" pitchFamily="18" charset="-127"/>
              </a:rPr>
              <a:t>실행결과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544" y="4149080"/>
            <a:ext cx="5616624" cy="1962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int num1, num2;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∙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변수를 선언만 할 수 있다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∙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콤마를 이용하여 둘 이상의 변수를 동시에 선언할 수 있다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∙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선언만 하면 값이 대입되기 전까지 쓰레기 값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의미 없는 값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이 채워진다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.  </a:t>
            </a:r>
          </a:p>
          <a:p>
            <a:pPr>
              <a:lnSpc>
                <a:spcPct val="150000"/>
              </a:lnSpc>
            </a:pPr>
            <a:endParaRPr lang="en-US" altLang="ko-KR" sz="5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int num3=30, num4=40;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∙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선언과 동시에 초기화 할 수 있다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변수선언 시 주의할 사항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6579" y="1560212"/>
            <a:ext cx="1237109" cy="1774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22644" y="1573465"/>
            <a:ext cx="1257556" cy="18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9553" y="4205064"/>
            <a:ext cx="6048672" cy="14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모서리가 둥근 직사각형 19"/>
          <p:cNvSpPr/>
          <p:nvPr/>
        </p:nvSpPr>
        <p:spPr>
          <a:xfrm>
            <a:off x="467544" y="1501456"/>
            <a:ext cx="1656184" cy="1944216"/>
          </a:xfrm>
          <a:prstGeom prst="roundRect">
            <a:avLst>
              <a:gd name="adj" fmla="val 2626"/>
            </a:avLst>
          </a:prstGeom>
          <a:noFill/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3563888" y="1488204"/>
            <a:ext cx="1656184" cy="1944216"/>
          </a:xfrm>
          <a:prstGeom prst="roundRect">
            <a:avLst>
              <a:gd name="adj" fmla="val 2626"/>
            </a:avLst>
          </a:prstGeom>
          <a:noFill/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467544" y="4077072"/>
            <a:ext cx="6264696" cy="1656184"/>
          </a:xfrm>
          <a:prstGeom prst="roundRect">
            <a:avLst>
              <a:gd name="adj" fmla="val 2626"/>
            </a:avLst>
          </a:prstGeom>
          <a:noFill/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3635896" y="5301208"/>
            <a:ext cx="5184576" cy="1008112"/>
          </a:xfrm>
          <a:prstGeom prst="roundRect">
            <a:avLst>
              <a:gd name="adj" fmla="val 2626"/>
            </a:avLst>
          </a:prstGeom>
          <a:solidFill>
            <a:schemeClr val="bg1"/>
          </a:solidFill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07904" y="5445224"/>
            <a:ext cx="499110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직사각형 29"/>
          <p:cNvSpPr/>
          <p:nvPr/>
        </p:nvSpPr>
        <p:spPr>
          <a:xfrm>
            <a:off x="2123728" y="3072380"/>
            <a:ext cx="1440160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dirty="0">
                <a:solidFill>
                  <a:srgbClr val="C00000"/>
                </a:solidFill>
                <a:latin typeface="휴먼편지체" pitchFamily="18" charset="-127"/>
                <a:ea typeface="휴먼편지체" pitchFamily="18" charset="-127"/>
              </a:rPr>
              <a:t>컴파일 가능한 </a:t>
            </a:r>
            <a:endParaRPr lang="en-US" altLang="ko-KR" sz="1500" dirty="0">
              <a:solidFill>
                <a:srgbClr val="C00000"/>
              </a:solidFill>
              <a:latin typeface="휴먼편지체" pitchFamily="18" charset="-127"/>
              <a:ea typeface="휴먼편지체" pitchFamily="18" charset="-127"/>
            </a:endParaRPr>
          </a:p>
          <a:p>
            <a:r>
              <a:rPr lang="ko-KR" altLang="en-US" sz="1500" dirty="0">
                <a:solidFill>
                  <a:srgbClr val="C00000"/>
                </a:solidFill>
                <a:latin typeface="휴먼편지체" pitchFamily="18" charset="-127"/>
                <a:ea typeface="휴먼편지체" pitchFamily="18" charset="-127"/>
              </a:rPr>
              <a:t>변수 선언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5220072" y="3000372"/>
            <a:ext cx="3600400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dirty="0">
                <a:solidFill>
                  <a:srgbClr val="C00000"/>
                </a:solidFill>
                <a:latin typeface="휴먼편지체" pitchFamily="18" charset="-127"/>
                <a:ea typeface="휴먼편지체" pitchFamily="18" charset="-127"/>
              </a:rPr>
              <a:t>컴파일이 불가능할 수도 있는 변수선언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36096" y="1560212"/>
            <a:ext cx="3384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과거의 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C 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표준에서는 변수의 선언이 맨 앞에 올 것을 요구하였다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 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그런데 지금도 그 표준을 따르는 컴파일러가 존재한다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7544" y="3717032"/>
            <a:ext cx="2232248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변수의 이름 규칙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시험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96336" y="494116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CC6600"/>
                </a:solidFill>
                <a:latin typeface="+mn-ea"/>
              </a:rPr>
              <a:t>잘못된 이름들</a:t>
            </a:r>
            <a:endParaRPr lang="en-US" altLang="ko-KR" sz="1200" b="1" dirty="0">
              <a:solidFill>
                <a:srgbClr val="CC6600"/>
              </a:solidFill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04248" y="4078813"/>
            <a:ext cx="2088232" cy="8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의미 있는 이름을 </a:t>
            </a:r>
            <a:endParaRPr lang="en-US" altLang="ko-KR" sz="1200" b="1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짓는 것이 가장 중요하다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!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FF0000"/>
                </a:solidFill>
                <a:latin typeface="+mn-ea"/>
                <a:sym typeface="Wingdings" pitchFamily="2" charset="2"/>
              </a:rPr>
              <a:t>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  <a:sym typeface="Wingdings" pitchFamily="2" charset="2"/>
              </a:rPr>
              <a:t>가독성을 높이기 위해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  <a:sym typeface="Wingdings" pitchFamily="2" charset="2"/>
              </a:rPr>
              <a:t>!</a:t>
            </a:r>
            <a:endParaRPr lang="en-US" altLang="ko-KR" sz="12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변수의 자료형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(Data Type)</a:t>
            </a:r>
            <a:r>
              <a:rPr lang="en-US" altLang="ko-KR" sz="2500" dirty="0">
                <a:solidFill>
                  <a:srgbClr val="FF0000"/>
                </a:solidFill>
                <a:latin typeface="+mn-ea"/>
                <a:ea typeface="+mn-ea"/>
                <a:sym typeface="Wingdings" pitchFamily="2" charset="2"/>
              </a:rPr>
              <a:t></a:t>
            </a:r>
            <a:r>
              <a:rPr lang="ko-KR" altLang="en-US" sz="2500" dirty="0">
                <a:solidFill>
                  <a:srgbClr val="FF0000"/>
                </a:solidFill>
                <a:latin typeface="+mn-ea"/>
                <a:ea typeface="+mn-ea"/>
                <a:sym typeface="Wingdings" pitchFamily="2" charset="2"/>
              </a:rPr>
              <a:t> </a:t>
            </a:r>
            <a:r>
              <a:rPr lang="en-US" altLang="ko-KR" sz="2500" dirty="0">
                <a:solidFill>
                  <a:srgbClr val="FF0000"/>
                </a:solidFill>
                <a:latin typeface="+mn-ea"/>
                <a:ea typeface="+mn-ea"/>
                <a:sym typeface="Wingdings" pitchFamily="2" charset="2"/>
              </a:rPr>
              <a:t>System Defined Type!</a:t>
            </a:r>
            <a:endParaRPr lang="ko-KR" altLang="en-US" sz="25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1124744"/>
            <a:ext cx="7200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정수형 두 가지 부류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정수형 변수와 실수형 변수</a:t>
            </a: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정수형 변수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정수 값의 저장을 목적으로 선언된 변수</a:t>
            </a: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정수형 변수는 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char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형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, short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형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, int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형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, long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형 변수로 나뉜다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실수형 변수 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실수 값의 저장을 목적으로 선언된 변수</a:t>
            </a: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실수형 변수는 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float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형 변수와 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double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형 변수로 나뉜다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정수형 변수와 실수형 변수가 나뉘는 이유는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정수를 저장하는 방식과 실수를 저장하는 방식이 다르기 때문</a:t>
            </a: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36096" y="1948914"/>
            <a:ext cx="3240360" cy="1408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int num1=24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∙ num1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은 정수형 변수 중 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int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형 변수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</a:t>
            </a:r>
          </a:p>
          <a:p>
            <a:pPr>
              <a:lnSpc>
                <a:spcPct val="150000"/>
              </a:lnSpc>
            </a:pPr>
            <a:endParaRPr lang="en-US" altLang="ko-KR" sz="5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double num2=3.14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∙ num2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는 실수형 변수 중 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double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형 변수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5364088" y="1844824"/>
            <a:ext cx="3384376" cy="1656184"/>
          </a:xfrm>
          <a:prstGeom prst="roundRect">
            <a:avLst>
              <a:gd name="adj" fmla="val 2626"/>
            </a:avLst>
          </a:prstGeom>
          <a:noFill/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E31E5B26-E3F8-359F-0F1A-6A9264C64C36}"/>
              </a:ext>
            </a:extLst>
          </p:cNvPr>
          <p:cNvGraphicFramePr>
            <a:graphicFrameLocks noGrp="1"/>
          </p:cNvGraphicFramePr>
          <p:nvPr/>
        </p:nvGraphicFramePr>
        <p:xfrm>
          <a:off x="4470280" y="4774272"/>
          <a:ext cx="4278184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773">
                  <a:extLst>
                    <a:ext uri="{9D8B030D-6E8A-4147-A177-3AD203B41FA5}">
                      <a16:colId xmlns:a16="http://schemas.microsoft.com/office/drawing/2014/main" val="1293457982"/>
                    </a:ext>
                  </a:extLst>
                </a:gridCol>
                <a:gridCol w="534773">
                  <a:extLst>
                    <a:ext uri="{9D8B030D-6E8A-4147-A177-3AD203B41FA5}">
                      <a16:colId xmlns:a16="http://schemas.microsoft.com/office/drawing/2014/main" val="1120344978"/>
                    </a:ext>
                  </a:extLst>
                </a:gridCol>
                <a:gridCol w="534773">
                  <a:extLst>
                    <a:ext uri="{9D8B030D-6E8A-4147-A177-3AD203B41FA5}">
                      <a16:colId xmlns:a16="http://schemas.microsoft.com/office/drawing/2014/main" val="3944495389"/>
                    </a:ext>
                  </a:extLst>
                </a:gridCol>
                <a:gridCol w="534773">
                  <a:extLst>
                    <a:ext uri="{9D8B030D-6E8A-4147-A177-3AD203B41FA5}">
                      <a16:colId xmlns:a16="http://schemas.microsoft.com/office/drawing/2014/main" val="2443650616"/>
                    </a:ext>
                  </a:extLst>
                </a:gridCol>
                <a:gridCol w="534773">
                  <a:extLst>
                    <a:ext uri="{9D8B030D-6E8A-4147-A177-3AD203B41FA5}">
                      <a16:colId xmlns:a16="http://schemas.microsoft.com/office/drawing/2014/main" val="2733040653"/>
                    </a:ext>
                  </a:extLst>
                </a:gridCol>
                <a:gridCol w="534773">
                  <a:extLst>
                    <a:ext uri="{9D8B030D-6E8A-4147-A177-3AD203B41FA5}">
                      <a16:colId xmlns:a16="http://schemas.microsoft.com/office/drawing/2014/main" val="3906218906"/>
                    </a:ext>
                  </a:extLst>
                </a:gridCol>
                <a:gridCol w="534773">
                  <a:extLst>
                    <a:ext uri="{9D8B030D-6E8A-4147-A177-3AD203B41FA5}">
                      <a16:colId xmlns:a16="http://schemas.microsoft.com/office/drawing/2014/main" val="1439473153"/>
                    </a:ext>
                  </a:extLst>
                </a:gridCol>
                <a:gridCol w="534773">
                  <a:extLst>
                    <a:ext uri="{9D8B030D-6E8A-4147-A177-3AD203B41FA5}">
                      <a16:colId xmlns:a16="http://schemas.microsoft.com/office/drawing/2014/main" val="2630729169"/>
                    </a:ext>
                  </a:extLst>
                </a:gridCol>
              </a:tblGrid>
              <a:tr h="311995"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0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0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0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0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0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0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0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0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875107"/>
                  </a:ext>
                </a:extLst>
              </a:tr>
              <a:tr h="311995"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0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0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0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0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0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0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0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0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318296"/>
                  </a:ext>
                </a:extLst>
              </a:tr>
              <a:tr h="311995"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0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0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0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0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0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0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0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0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456322"/>
                  </a:ext>
                </a:extLst>
              </a:tr>
              <a:tr h="311995"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0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0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0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1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1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0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0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dirty="0"/>
                        <a:t>0</a:t>
                      </a:r>
                      <a:endParaRPr lang="ko-Kore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44913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9870637-1690-422E-F6A9-A26ED3A859D7}"/>
              </a:ext>
            </a:extLst>
          </p:cNvPr>
          <p:cNvSpPr txBox="1"/>
          <p:nvPr/>
        </p:nvSpPr>
        <p:spPr>
          <a:xfrm>
            <a:off x="683568" y="4960167"/>
            <a:ext cx="2016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Int num1=24</a:t>
            </a:r>
            <a:r>
              <a:rPr kumimoji="1" lang="ko-Kore-KR" altLang="en-US" dirty="0"/>
              <a:t>가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메모리에 이진수 값으로 어떻게 들어가 있는 걸까</a:t>
            </a:r>
            <a:r>
              <a:rPr kumimoji="1" lang="en-US" altLang="ko-KR" dirty="0"/>
              <a:t>?</a:t>
            </a:r>
            <a:endParaRPr kumimoji="1" lang="en-US" altLang="ko-Kore-KR" dirty="0"/>
          </a:p>
        </p:txBody>
      </p:sp>
      <p:sp>
        <p:nvSpPr>
          <p:cNvPr id="5" name="오른쪽 화살표[R] 4">
            <a:extLst>
              <a:ext uri="{FF2B5EF4-FFF2-40B4-BE49-F238E27FC236}">
                <a16:creationId xmlns:a16="http://schemas.microsoft.com/office/drawing/2014/main" id="{59EA8F3C-D5F5-0D0F-652C-718DF17225E4}"/>
              </a:ext>
            </a:extLst>
          </p:cNvPr>
          <p:cNvSpPr/>
          <p:nvPr/>
        </p:nvSpPr>
        <p:spPr>
          <a:xfrm>
            <a:off x="2987824" y="5301208"/>
            <a:ext cx="792088" cy="5040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09F8D6-7E79-7B82-3632-92747BE5B1AE}"/>
              </a:ext>
            </a:extLst>
          </p:cNvPr>
          <p:cNvSpPr txBox="1"/>
          <p:nvPr/>
        </p:nvSpPr>
        <p:spPr>
          <a:xfrm>
            <a:off x="2665546" y="4893022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dirty="0"/>
              <a:t>2</a:t>
            </a:r>
            <a:r>
              <a:rPr kumimoji="1" lang="en-US" altLang="ko-KR" dirty="0"/>
              <a:t>4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이진수로</a:t>
            </a:r>
            <a:endParaRPr kumimoji="1" lang="ko-Kore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F6AF83-428F-49DF-AD34-904B60518ED8}"/>
              </a:ext>
            </a:extLst>
          </p:cNvPr>
          <p:cNvSpPr txBox="1"/>
          <p:nvPr/>
        </p:nvSpPr>
        <p:spPr>
          <a:xfrm>
            <a:off x="3048000" y="6008914"/>
            <a:ext cx="1258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dirty="0"/>
              <a:t>0x18</a:t>
            </a:r>
          </a:p>
          <a:p>
            <a:r>
              <a:rPr kumimoji="1" lang="en-US" altLang="ko-Kore-KR" dirty="0"/>
              <a:t>(00000018)</a:t>
            </a:r>
            <a:endParaRPr kumimoji="1" lang="ko-Kore-KR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덧셈 프로그램의 완성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2054721"/>
            <a:ext cx="5172075" cy="223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50632" y="3553637"/>
            <a:ext cx="2219325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직사각형 10"/>
          <p:cNvSpPr/>
          <p:nvPr/>
        </p:nvSpPr>
        <p:spPr>
          <a:xfrm>
            <a:off x="5652120" y="3210269"/>
            <a:ext cx="1008112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00B050"/>
                </a:solidFill>
                <a:latin typeface="휴먼편지체" pitchFamily="18" charset="-127"/>
                <a:ea typeface="휴먼편지체" pitchFamily="18" charset="-127"/>
              </a:rPr>
              <a:t>실행결과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616" y="4725144"/>
            <a:ext cx="6552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변수를 선언하여 덧셈의 결과를 저장했기 때문에 덧셈결과를 다양한 형태로 출력할 수 있다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19200" y="3789040"/>
            <a:ext cx="6858000" cy="990600"/>
          </a:xfrm>
        </p:spPr>
        <p:txBody>
          <a:bodyPr>
            <a:noAutofit/>
          </a:bodyPr>
          <a:lstStyle/>
          <a:p>
            <a:pPr algn="l"/>
            <a:r>
              <a:rPr lang="en-US" altLang="ko-KR" sz="29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C</a:t>
            </a:r>
            <a:r>
              <a:rPr lang="ko-KR" altLang="en-US" sz="29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언어의 다양한 </a:t>
            </a:r>
            <a:br>
              <a:rPr lang="en-US" altLang="ko-KR" sz="29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</a:br>
            <a:r>
              <a:rPr lang="ko-KR" altLang="en-US" sz="29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연산자 소개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14282" y="214290"/>
            <a:ext cx="8715436" cy="6429420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15074" y="1571612"/>
            <a:ext cx="97155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58082" y="1785926"/>
            <a:ext cx="10953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32574" y="1664376"/>
            <a:ext cx="33337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12086" y="2402364"/>
            <a:ext cx="4381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215338" y="2500306"/>
            <a:ext cx="495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429652" y="1857364"/>
            <a:ext cx="32385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786578" y="857232"/>
            <a:ext cx="6477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643834" y="1071546"/>
            <a:ext cx="1028700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8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 rot="19550150">
            <a:off x="7252041" y="1319198"/>
            <a:ext cx="54292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4" name="Picture 16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429520" y="714356"/>
            <a:ext cx="2667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5" name="Picture 1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715272" y="785794"/>
            <a:ext cx="2667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6" name="Picture 18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072462" y="714356"/>
            <a:ext cx="32385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대입 연산자와 산술 연산자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805" y="1191004"/>
            <a:ext cx="5472608" cy="2828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2316" y="4116964"/>
            <a:ext cx="4657725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58341" y="5212812"/>
            <a:ext cx="1701688" cy="1022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직사각형 6"/>
          <p:cNvSpPr/>
          <p:nvPr/>
        </p:nvSpPr>
        <p:spPr>
          <a:xfrm>
            <a:off x="6948264" y="5880692"/>
            <a:ext cx="1008112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00B050"/>
                </a:solidFill>
                <a:latin typeface="휴먼편지체" pitchFamily="18" charset="-127"/>
                <a:ea typeface="휴먼편지체" pitchFamily="18" charset="-127"/>
              </a:rPr>
              <a:t>실행결과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63072" y="4077072"/>
            <a:ext cx="3745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함수호출 문장에 연산식이 있는 경우 </a:t>
            </a:r>
            <a:endParaRPr lang="en-US" altLang="ko-KR" sz="1200" b="1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연산이 이뤄지고 그 결과를 기반으로 함수의 호출이 </a:t>
            </a:r>
            <a:endParaRPr lang="en-US" altLang="ko-KR" sz="1200" b="1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진행된다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복합 대입 연산자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7313" y="1340768"/>
            <a:ext cx="2943225" cy="220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0218" y="3789040"/>
            <a:ext cx="4305300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70698" y="5445224"/>
            <a:ext cx="1733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직사각형 8"/>
          <p:cNvSpPr/>
          <p:nvPr/>
        </p:nvSpPr>
        <p:spPr>
          <a:xfrm>
            <a:off x="5070698" y="5085184"/>
            <a:ext cx="1008112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00B050"/>
                </a:solidFill>
                <a:latin typeface="휴먼편지체" pitchFamily="18" charset="-127"/>
                <a:ea typeface="휴먼편지체" pitchFamily="18" charset="-127"/>
              </a:rPr>
              <a:t>실행결과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부호의 의미를 갖는 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+ 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연산자와 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- 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연산자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412776"/>
            <a:ext cx="2705100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모서리가 둥근 직사각형 15"/>
          <p:cNvSpPr/>
          <p:nvPr/>
        </p:nvSpPr>
        <p:spPr>
          <a:xfrm>
            <a:off x="1115616" y="1844824"/>
            <a:ext cx="1296144" cy="288032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11760" y="1774557"/>
            <a:ext cx="4608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737C22"/>
                </a:solidFill>
                <a:latin typeface="+mn-ea"/>
              </a:rPr>
              <a:t>int num1 = 2; </a:t>
            </a:r>
            <a:r>
              <a:rPr lang="ko-KR" altLang="en-US" sz="1200" b="1" dirty="0">
                <a:solidFill>
                  <a:srgbClr val="737C22"/>
                </a:solidFill>
                <a:latin typeface="+mn-ea"/>
              </a:rPr>
              <a:t>와</a:t>
            </a:r>
            <a:r>
              <a:rPr lang="en-US" altLang="ko-KR" sz="1200" b="1" dirty="0">
                <a:solidFill>
                  <a:srgbClr val="737C22"/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rgbClr val="737C22"/>
                </a:solidFill>
                <a:latin typeface="+mn-ea"/>
              </a:rPr>
              <a:t>동일한 문장</a:t>
            </a:r>
            <a:r>
              <a:rPr lang="en-US" altLang="ko-KR" sz="1200" b="1" dirty="0">
                <a:solidFill>
                  <a:srgbClr val="737C22"/>
                </a:solidFill>
                <a:latin typeface="+mn-ea"/>
              </a:rPr>
              <a:t>!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737C22"/>
                </a:solidFill>
                <a:latin typeface="+mn-ea"/>
              </a:rPr>
              <a:t>+</a:t>
            </a:r>
            <a:r>
              <a:rPr lang="ko-KR" altLang="en-US" sz="1200" b="1" dirty="0">
                <a:solidFill>
                  <a:srgbClr val="737C22"/>
                </a:solidFill>
                <a:latin typeface="+mn-ea"/>
              </a:rPr>
              <a:t>를 연산자의 범주에 포함시켰기 때문에 컴파일이 가능하다</a:t>
            </a:r>
            <a:r>
              <a:rPr lang="en-US" altLang="ko-KR" sz="1200" b="1" dirty="0">
                <a:solidFill>
                  <a:srgbClr val="737C22"/>
                </a:solidFill>
                <a:latin typeface="+mn-ea"/>
              </a:rPr>
              <a:t>.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82888" y="3298236"/>
            <a:ext cx="93345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직사각형 17"/>
          <p:cNvSpPr/>
          <p:nvPr/>
        </p:nvSpPr>
        <p:spPr>
          <a:xfrm>
            <a:off x="3419872" y="2924944"/>
            <a:ext cx="1008112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00B050"/>
                </a:solidFill>
                <a:latin typeface="휴먼편지체" pitchFamily="18" charset="-127"/>
                <a:ea typeface="휴먼편지체" pitchFamily="18" charset="-127"/>
              </a:rPr>
              <a:t>실행결과</a:t>
            </a: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25835" y="4293096"/>
            <a:ext cx="3286125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22784" y="5286722"/>
            <a:ext cx="3505200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모서리가 둥근 직사각형 18"/>
          <p:cNvSpPr/>
          <p:nvPr/>
        </p:nvSpPr>
        <p:spPr>
          <a:xfrm>
            <a:off x="827584" y="4149080"/>
            <a:ext cx="3744416" cy="864096"/>
          </a:xfrm>
          <a:prstGeom prst="roundRect">
            <a:avLst>
              <a:gd name="adj" fmla="val 1331"/>
            </a:avLst>
          </a:prstGeom>
          <a:noFill/>
          <a:ln w="15875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827584" y="5157192"/>
            <a:ext cx="3744416" cy="864096"/>
          </a:xfrm>
          <a:prstGeom prst="roundRect">
            <a:avLst>
              <a:gd name="adj" fmla="val 1331"/>
            </a:avLst>
          </a:prstGeom>
          <a:noFill/>
          <a:ln w="15875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4572000" y="4653136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두 연산자를 혼동하지 않도록 주의한다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661248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혼동을 최소화 하는 띄어쓰기</a:t>
            </a:r>
            <a:endParaRPr lang="en-US" altLang="ko-KR" sz="1200" b="1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증가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감소 연산자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5" y="1261256"/>
            <a:ext cx="6048672" cy="2369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7300" y="3736032"/>
            <a:ext cx="3816424" cy="2482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55977" y="4744144"/>
            <a:ext cx="1389628" cy="144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직사각형 22"/>
          <p:cNvSpPr/>
          <p:nvPr/>
        </p:nvSpPr>
        <p:spPr>
          <a:xfrm>
            <a:off x="5652120" y="5827684"/>
            <a:ext cx="1008112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00B050"/>
                </a:solidFill>
                <a:latin typeface="휴먼편지체" pitchFamily="18" charset="-127"/>
                <a:ea typeface="휴먼편지체" pitchFamily="18" charset="-127"/>
              </a:rPr>
              <a:t>실행결과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증가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감소 연산자 추가 예제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844824"/>
            <a:ext cx="3505200" cy="183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11960" y="3212976"/>
            <a:ext cx="108585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직사각형 9"/>
          <p:cNvSpPr/>
          <p:nvPr/>
        </p:nvSpPr>
        <p:spPr>
          <a:xfrm>
            <a:off x="5220072" y="3284984"/>
            <a:ext cx="1008112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00B050"/>
                </a:solidFill>
                <a:latin typeface="휴먼편지체" pitchFamily="18" charset="-127"/>
                <a:ea typeface="휴먼편지체" pitchFamily="18" charset="-127"/>
              </a:rPr>
              <a:t>실행결과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3568" y="4491955"/>
            <a:ext cx="3848100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/>
          <p:cNvSpPr txBox="1"/>
          <p:nvPr/>
        </p:nvSpPr>
        <p:spPr>
          <a:xfrm>
            <a:off x="4499992" y="5572075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연산의 과정</a:t>
            </a:r>
            <a:endParaRPr lang="en-US" altLang="ko-KR" sz="1200" b="1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관계 연산자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365957"/>
            <a:ext cx="3816424" cy="2783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4427984" y="1412776"/>
            <a:ext cx="38164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연산의 조건을 만족하면 </a:t>
            </a:r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참을 의미하는 </a:t>
            </a:r>
            <a:r>
              <a:rPr lang="en-US" altLang="ko-KR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1</a:t>
            </a:r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을 반환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하고 만족하지 않으면 </a:t>
            </a:r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거짓을 의미하는 </a:t>
            </a:r>
            <a:r>
              <a:rPr lang="en-US" altLang="ko-KR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0</a:t>
            </a:r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을 반환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하는 연산자들이다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4048" y="3645024"/>
            <a:ext cx="3460601" cy="267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35896" y="5589240"/>
            <a:ext cx="1343025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직사각형 14"/>
          <p:cNvSpPr/>
          <p:nvPr/>
        </p:nvSpPr>
        <p:spPr>
          <a:xfrm>
            <a:off x="3491880" y="5232620"/>
            <a:ext cx="1008112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00B050"/>
                </a:solidFill>
                <a:latin typeface="휴먼편지체" pitchFamily="18" charset="-127"/>
                <a:ea typeface="휴먼편지체" pitchFamily="18" charset="-127"/>
              </a:rPr>
              <a:t>실행결과</a:t>
            </a:r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36096" y="2348880"/>
            <a:ext cx="3096344" cy="1248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467544" y="4437112"/>
            <a:ext cx="3816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C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언어는 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0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이 아닌 모든 값을 참으로 간주한다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 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다만 </a:t>
            </a:r>
            <a:r>
              <a:rPr lang="en-US" altLang="ko-KR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1</a:t>
            </a:r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이 참을 의미하는 대표적인 값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일 뿐이다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17" name="모서리가 둥근 직사각형 16"/>
          <p:cNvSpPr/>
          <p:nvPr/>
        </p:nvSpPr>
        <p:spPr>
          <a:xfrm>
            <a:off x="5220072" y="4653136"/>
            <a:ext cx="2016224" cy="216024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논리 연산자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172422"/>
            <a:ext cx="5832648" cy="1595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2780928"/>
            <a:ext cx="3075084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8064" y="5556988"/>
            <a:ext cx="10858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직사각형 6"/>
          <p:cNvSpPr/>
          <p:nvPr/>
        </p:nvSpPr>
        <p:spPr>
          <a:xfrm>
            <a:off x="1632924" y="5903776"/>
            <a:ext cx="1008112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00B050"/>
                </a:solidFill>
                <a:latin typeface="휴먼편지체" pitchFamily="18" charset="-127"/>
                <a:ea typeface="휴먼편지체" pitchFamily="18" charset="-127"/>
              </a:rPr>
              <a:t>실행결과</a:t>
            </a:r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07904" y="3284984"/>
            <a:ext cx="3528392" cy="1481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모서리가 둥근 직사각형 8"/>
          <p:cNvSpPr/>
          <p:nvPr/>
        </p:nvSpPr>
        <p:spPr>
          <a:xfrm>
            <a:off x="931844" y="3874300"/>
            <a:ext cx="2520280" cy="202772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707904" y="4797152"/>
            <a:ext cx="41764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왼쪽 예제에서 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num1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은 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0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이 아니므로 참과 거짓의 관계로 본다면 거짓에 해당한다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 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따라서 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! 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연산의 결과로 참을 의미하는 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1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이 반환되는 것이다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 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콤마 연산자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552" y="1591632"/>
            <a:ext cx="74888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콤마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 , )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 ∙ 콤마도 연산자이다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 ∙ 둘 이상의 변수를 동시에 선언하거나 둘 이상의 문장을 한 행에 삽입하는 경우에 사용되는 연산자이다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 ∙ 둘 이상의 인자를 함수로 전달할 때 인자의 구분을 목적으로도 사용된다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 ∙ 콤마 연산자는 다른 연산자들과 달리 연산의 결과가 아닌 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‘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구분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’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을 목적으로 한다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  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521" y="3780177"/>
            <a:ext cx="4608512" cy="1737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33789" y="5004313"/>
            <a:ext cx="151447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직사각형 7"/>
          <p:cNvSpPr/>
          <p:nvPr/>
        </p:nvSpPr>
        <p:spPr>
          <a:xfrm>
            <a:off x="5322025" y="4647693"/>
            <a:ext cx="1008112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00B050"/>
                </a:solidFill>
                <a:latin typeface="휴먼편지체" pitchFamily="18" charset="-127"/>
                <a:ea typeface="휴먼편지체" pitchFamily="18" charset="-127"/>
              </a:rPr>
              <a:t>실행결과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연산자의 우선순위와 결합방향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552" y="1591632"/>
            <a:ext cx="74888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연산자의 우선순위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 ∙ 연산의 순서에 대한 순위</a:t>
            </a: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 ∙ 덧셈과 뺄셈보다는 곱셈과 나눗셈의 우선순위가 높다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√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연산자의 결합방향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 ∙ 우선순위가 동일한 두 연산자 사이에서의 연산을 진행하는 방향</a:t>
            </a: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 ∙ 덧셈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뺄셈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곱셈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나눗셈 모두 결합방향이 왼쪽에서 오른쪽으로 진행된다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</p:txBody>
      </p:sp>
      <p:graphicFrame>
        <p:nvGraphicFramePr>
          <p:cNvPr id="10" name="개체 9"/>
          <p:cNvGraphicFramePr>
            <a:graphicFrameLocks noChangeAspect="1"/>
          </p:cNvGraphicFramePr>
          <p:nvPr/>
        </p:nvGraphicFramePr>
        <p:xfrm>
          <a:off x="971600" y="4581128"/>
          <a:ext cx="2520280" cy="3818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thMagic" r:id="rId2" imgW="1257120" imgH="190440" progId="Equation.MathMagic">
                  <p:embed/>
                </p:oleObj>
              </mc:Choice>
              <mc:Fallback>
                <p:oleObj name="MathMagic" r:id="rId2" imgW="1257120" imgH="190440" progId="Equation.MathMagic">
                  <p:embed/>
                  <p:pic>
                    <p:nvPicPr>
                      <p:cNvPr id="10" name="개체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4581128"/>
                        <a:ext cx="2520280" cy="38186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모서리가 둥근 직사각형 10"/>
          <p:cNvSpPr/>
          <p:nvPr/>
        </p:nvSpPr>
        <p:spPr>
          <a:xfrm>
            <a:off x="683568" y="4365104"/>
            <a:ext cx="3168352" cy="720080"/>
          </a:xfrm>
          <a:prstGeom prst="roundRect">
            <a:avLst>
              <a:gd name="adj" fmla="val 1331"/>
            </a:avLst>
          </a:prstGeom>
          <a:noFill/>
          <a:ln w="15875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4067944" y="4293096"/>
            <a:ext cx="41764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연산자의 </a:t>
            </a:r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우선순위에 근거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하여 곱셈과 나눗셈이 먼저 진행된다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결합방향에 근거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하여 곱셈이 나눗셈보다 먼저 진행된다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ko-KR" altLang="en-US" sz="24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키보드로부터의 데이터 입력과 </a:t>
            </a:r>
            <a:r>
              <a:rPr lang="en-US" altLang="ko-KR" sz="24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C</a:t>
            </a:r>
            <a:r>
              <a:rPr lang="ko-KR" altLang="en-US" sz="24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언어의 키워드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14282" y="214290"/>
            <a:ext cx="8715436" cy="6429420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15074" y="1571612"/>
            <a:ext cx="97155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58082" y="1785926"/>
            <a:ext cx="10953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32574" y="1664376"/>
            <a:ext cx="33337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12086" y="2402364"/>
            <a:ext cx="4381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215338" y="2500306"/>
            <a:ext cx="495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429652" y="1857364"/>
            <a:ext cx="32385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786578" y="857232"/>
            <a:ext cx="6477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643834" y="1071546"/>
            <a:ext cx="1028700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8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 rot="19550150">
            <a:off x="7252041" y="1319198"/>
            <a:ext cx="54292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4" name="Picture 16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429520" y="714356"/>
            <a:ext cx="2667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5" name="Picture 1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715272" y="785794"/>
            <a:ext cx="2667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6" name="Picture 18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072462" y="714356"/>
            <a:ext cx="32385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키보드로부터의 정수입력을 위한 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scanf 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함수의 호출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4762" y="1412776"/>
            <a:ext cx="2162175" cy="149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모서리가 둥근 직사각형 11"/>
          <p:cNvSpPr/>
          <p:nvPr/>
        </p:nvSpPr>
        <p:spPr>
          <a:xfrm>
            <a:off x="602754" y="1340768"/>
            <a:ext cx="2304256" cy="1656184"/>
          </a:xfrm>
          <a:prstGeom prst="roundRect">
            <a:avLst>
              <a:gd name="adj" fmla="val 2626"/>
            </a:avLst>
          </a:prstGeom>
          <a:noFill/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87824" y="1268760"/>
            <a:ext cx="310515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/>
          <p:cNvSpPr txBox="1"/>
          <p:nvPr/>
        </p:nvSpPr>
        <p:spPr>
          <a:xfrm>
            <a:off x="2987824" y="2780928"/>
            <a:ext cx="53285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∙ printf 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함수에서의 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%d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는 </a:t>
            </a:r>
            <a:r>
              <a:rPr lang="en-US" altLang="ko-KR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10</a:t>
            </a:r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진수 정수의 출력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을 의미한다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∙ 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반면 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scanf 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함수에서의 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%d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는 </a:t>
            </a:r>
            <a:r>
              <a:rPr lang="en-US" altLang="ko-KR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10</a:t>
            </a:r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진수 정수의 입력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을 의미한다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∙ 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변수의 이름 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num 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앞에 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&amp; 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를 붙인 이유는 이후에 천천히 알게 된다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  </a:t>
            </a:r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1560" y="3802149"/>
            <a:ext cx="3724991" cy="2430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361724" y="5484837"/>
            <a:ext cx="136207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직사각형 18"/>
          <p:cNvSpPr/>
          <p:nvPr/>
        </p:nvSpPr>
        <p:spPr>
          <a:xfrm>
            <a:off x="4283968" y="5098293"/>
            <a:ext cx="1008112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00B050"/>
                </a:solidFill>
                <a:latin typeface="휴먼편지체" pitchFamily="18" charset="-127"/>
                <a:ea typeface="휴먼편지체" pitchFamily="18" charset="-127"/>
              </a:rPr>
              <a:t>실행결과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입력의 형태를 다양하게 지정할 수 있다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ko-KR" altLang="en-US" sz="25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9875" y="1484784"/>
            <a:ext cx="378142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모서리가 둥근 직사각형 6"/>
          <p:cNvSpPr/>
          <p:nvPr/>
        </p:nvSpPr>
        <p:spPr>
          <a:xfrm>
            <a:off x="590119" y="1426028"/>
            <a:ext cx="3960440" cy="1656184"/>
          </a:xfrm>
          <a:prstGeom prst="roundRect">
            <a:avLst>
              <a:gd name="adj" fmla="val 2626"/>
            </a:avLst>
          </a:prstGeom>
          <a:noFill/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62323" y="1412776"/>
            <a:ext cx="3902369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2142" y="3933056"/>
            <a:ext cx="4794869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49019" y="5589240"/>
            <a:ext cx="2219325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직사각형 11"/>
          <p:cNvSpPr/>
          <p:nvPr/>
        </p:nvSpPr>
        <p:spPr>
          <a:xfrm>
            <a:off x="5377011" y="5157192"/>
            <a:ext cx="1008112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00B050"/>
                </a:solidFill>
                <a:latin typeface="휴먼편지체" pitchFamily="18" charset="-127"/>
                <a:ea typeface="휴먼편지체" pitchFamily="18" charset="-127"/>
              </a:rPr>
              <a:t>실행결과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875" y="3068960"/>
            <a:ext cx="4032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한 번의 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scanf 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함수호출을 통해서 둘 이상의 데이터를 </a:t>
            </a:r>
            <a:endParaRPr lang="en-US" altLang="ko-KR" sz="1200" b="1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원하는 방식으로 입력 받을 수 있다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언어의 표준 키워드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447" y="1706488"/>
            <a:ext cx="4619625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모서리가 둥근 직사각형 9"/>
          <p:cNvSpPr/>
          <p:nvPr/>
        </p:nvSpPr>
        <p:spPr>
          <a:xfrm>
            <a:off x="611560" y="1628800"/>
            <a:ext cx="4752528" cy="2592288"/>
          </a:xfrm>
          <a:prstGeom prst="roundRect">
            <a:avLst>
              <a:gd name="adj" fmla="val 2626"/>
            </a:avLst>
          </a:prstGeom>
          <a:noFill/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683568" y="4438853"/>
            <a:ext cx="4896544" cy="772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C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언어의 문법을 구성하는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그 의미가 결정되어 있는 단어들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! </a:t>
            </a:r>
          </a:p>
          <a:p>
            <a:pPr>
              <a:lnSpc>
                <a:spcPct val="20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이러한 단어들을 가리켜 </a:t>
            </a:r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키워드</a:t>
            </a:r>
            <a:r>
              <a:rPr lang="en-US" altLang="ko-KR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(keyword)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라 한다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ko-KR" sz="29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Chapter 04-1. </a:t>
            </a:r>
            <a:r>
              <a:rPr lang="ko-KR" altLang="en-US" sz="29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컴퓨터가 데이터를 표현하는 방식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14282" y="214290"/>
            <a:ext cx="8715436" cy="6429420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15074" y="1571612"/>
            <a:ext cx="97155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58082" y="1785926"/>
            <a:ext cx="10953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32574" y="1664376"/>
            <a:ext cx="33337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12086" y="2402364"/>
            <a:ext cx="4381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215338" y="2500306"/>
            <a:ext cx="495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429652" y="1857364"/>
            <a:ext cx="32385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786578" y="857232"/>
            <a:ext cx="6477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643834" y="1071546"/>
            <a:ext cx="1028700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8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 rot="19550150">
            <a:off x="7252041" y="1319198"/>
            <a:ext cx="54292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4" name="Picture 16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429520" y="714356"/>
            <a:ext cx="2667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5" name="Picture 1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715272" y="785794"/>
            <a:ext cx="2667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6" name="Picture 18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072462" y="714356"/>
            <a:ext cx="32385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457200" y="275896"/>
            <a:ext cx="6059016" cy="704832"/>
          </a:xfrm>
        </p:spPr>
        <p:txBody>
          <a:bodyPr>
            <a:noAutofit/>
          </a:bodyPr>
          <a:lstStyle/>
          <a:p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진수란 무엇인가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? </a:t>
            </a:r>
            <a:b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더불어 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10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진수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, 16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진수란 무엇인가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?</a:t>
            </a:r>
            <a:endParaRPr lang="ko-KR" altLang="en-US" sz="25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2457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770285"/>
            <a:ext cx="3744416" cy="1082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6016" y="4149080"/>
            <a:ext cx="2736304" cy="188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7544" y="3429000"/>
            <a:ext cx="3528392" cy="26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4499992" y="1340768"/>
            <a:ext cx="464400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2</a:t>
            </a:r>
            <a:r>
              <a:rPr lang="ko-KR" altLang="en-US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진수</a:t>
            </a:r>
            <a:endParaRPr lang="en-US" altLang="ko-KR" sz="1400" b="1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∙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두 개의 기호를 이용해서 값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데이터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를 표현하는 방식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5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10</a:t>
            </a:r>
            <a:r>
              <a:rPr lang="ko-KR" altLang="en-US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진수</a:t>
            </a:r>
            <a:endParaRPr lang="en-US" altLang="ko-KR" sz="1400" b="1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∙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열 개의 기호를 이용해서 값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데이터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을 표현하는 방식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5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N</a:t>
            </a:r>
            <a:r>
              <a:rPr lang="ko-KR" altLang="en-US" sz="14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진수</a:t>
            </a:r>
            <a:endParaRPr lang="en-US" altLang="ko-KR" sz="1400" b="1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∙ N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개의 기호를 이용해서 값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데이터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을 표현하는 방식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데이터의 표현단위인 비트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(Bit)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와 바이트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(Byte)</a:t>
            </a:r>
            <a:endParaRPr lang="ko-KR" altLang="en-US" sz="25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2355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9733" y="1563241"/>
            <a:ext cx="3724275" cy="200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4365104"/>
            <a:ext cx="3009900" cy="154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3995936" y="5302949"/>
            <a:ext cx="3240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왼쪽의 의미 있는 정보를 이용하면 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2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진수를 쉽게 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10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진수로 변환할 수 있다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12" name="모서리가 둥근 직사각형 11"/>
          <p:cNvSpPr/>
          <p:nvPr/>
        </p:nvSpPr>
        <p:spPr>
          <a:xfrm>
            <a:off x="683568" y="1501456"/>
            <a:ext cx="4176464" cy="2215576"/>
          </a:xfrm>
          <a:prstGeom prst="roundRect">
            <a:avLst>
              <a:gd name="adj" fmla="val 2626"/>
            </a:avLst>
          </a:prstGeom>
          <a:noFill/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683568" y="4293096"/>
            <a:ext cx="3240360" cy="1639512"/>
          </a:xfrm>
          <a:prstGeom prst="roundRect">
            <a:avLst>
              <a:gd name="adj" fmla="val 2626"/>
            </a:avLst>
          </a:prstGeom>
          <a:noFill/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4932040" y="2780928"/>
            <a:ext cx="3456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컴퓨터 메모리의 주소 값은 </a:t>
            </a:r>
            <a:r>
              <a:rPr lang="en-US" altLang="ko-KR" sz="1200" b="1" dirty="0">
                <a:solidFill>
                  <a:srgbClr val="C00000"/>
                </a:solidFill>
                <a:latin typeface="+mn-ea"/>
              </a:rPr>
              <a:t>1</a:t>
            </a:r>
            <a:r>
              <a:rPr lang="ko-KR" altLang="en-US" sz="1200" b="1" dirty="0">
                <a:solidFill>
                  <a:srgbClr val="C00000"/>
                </a:solidFill>
                <a:latin typeface="+mn-ea"/>
              </a:rPr>
              <a:t>바이트당 하나의 주소가 할당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되어 있다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 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따라서 바이트는 컴퓨터에 있어서 상당히 의미가 있는 단위이다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 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8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진수와 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16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진수를 이용한 데이터 표현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556792"/>
            <a:ext cx="453390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모서리가 둥근 직사각형 10"/>
          <p:cNvSpPr/>
          <p:nvPr/>
        </p:nvSpPr>
        <p:spPr>
          <a:xfrm>
            <a:off x="539552" y="1484784"/>
            <a:ext cx="4608512" cy="936104"/>
          </a:xfrm>
          <a:prstGeom prst="roundRect">
            <a:avLst>
              <a:gd name="adj" fmla="val 2626"/>
            </a:avLst>
          </a:prstGeom>
          <a:noFill/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2708920"/>
            <a:ext cx="3672408" cy="2758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3969" y="4149080"/>
            <a:ext cx="2058582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직사각형 15"/>
          <p:cNvSpPr/>
          <p:nvPr/>
        </p:nvSpPr>
        <p:spPr>
          <a:xfrm>
            <a:off x="5364088" y="3792460"/>
            <a:ext cx="1008112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00B050"/>
                </a:solidFill>
                <a:latin typeface="휴먼편지체" pitchFamily="18" charset="-127"/>
                <a:ea typeface="휴먼편지체" pitchFamily="18" charset="-127"/>
              </a:rPr>
              <a:t>실행결과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/>
            <a:r>
              <a:rPr lang="ko-KR" altLang="en-US" sz="29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정수와 실수의 표현방식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14282" y="214290"/>
            <a:ext cx="8715436" cy="6429420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15074" y="1571612"/>
            <a:ext cx="97155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58082" y="1785926"/>
            <a:ext cx="10953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32574" y="1664376"/>
            <a:ext cx="33337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12086" y="2402364"/>
            <a:ext cx="4381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215338" y="2500306"/>
            <a:ext cx="495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429652" y="1857364"/>
            <a:ext cx="32385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786578" y="857232"/>
            <a:ext cx="6477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643834" y="1071546"/>
            <a:ext cx="1028700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8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 rot="19550150">
            <a:off x="7252041" y="1319198"/>
            <a:ext cx="54292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4" name="Picture 16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429520" y="714356"/>
            <a:ext cx="2667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5" name="Picture 1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715272" y="785794"/>
            <a:ext cx="2667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6" name="Picture 18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072462" y="714356"/>
            <a:ext cx="32385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4618856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정수의 표현방식</a:t>
            </a:r>
          </a:p>
        </p:txBody>
      </p:sp>
      <p:pic>
        <p:nvPicPr>
          <p:cNvPr id="2048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556792"/>
            <a:ext cx="2808312" cy="1387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4289648"/>
            <a:ext cx="41529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3563888" y="2001614"/>
            <a:ext cx="4392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∙ 가장 왼쪽 비트를 </a:t>
            </a:r>
            <a:r>
              <a:rPr lang="en-US" altLang="ko-KR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MSB(Most Significant Bit)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라 한다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∙ 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MSB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는 부호를 나타내는 비트이다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∙ 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MSB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를 제외한 나머지 비트는 크기를 나타내는데 사용된다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6016" y="5009728"/>
            <a:ext cx="4032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왼쪽에서는 양의 정수를 표현하는 방식으로 음의 정수를 표현하는 것이 </a:t>
            </a:r>
            <a:r>
              <a:rPr lang="ko-KR" altLang="en-US" sz="1200" b="1" dirty="0">
                <a:solidFill>
                  <a:srgbClr val="C00000"/>
                </a:solidFill>
                <a:latin typeface="+mn-ea"/>
              </a:rPr>
              <a:t>적절치 않은 이유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를 설명한다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608" y="3140968"/>
            <a:ext cx="54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정수의 표현방식은 </a:t>
            </a:r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바이트의 크기와는 상관 없다</a:t>
            </a:r>
            <a:r>
              <a:rPr lang="en-US" altLang="ko-KR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바이트의 크기가 크면 그만큼 넓은 범위의 정수를 표현할 수 있을 뿐이다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 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음의 정수 표현방식</a:t>
            </a:r>
          </a:p>
        </p:txBody>
      </p:sp>
      <p:pic>
        <p:nvPicPr>
          <p:cNvPr id="1945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700808"/>
            <a:ext cx="3240360" cy="2052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4365104"/>
            <a:ext cx="4333875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모서리가 둥근 직사각형 9"/>
          <p:cNvSpPr/>
          <p:nvPr/>
        </p:nvSpPr>
        <p:spPr>
          <a:xfrm>
            <a:off x="539552" y="1628800"/>
            <a:ext cx="3312368" cy="2160240"/>
          </a:xfrm>
          <a:prstGeom prst="roundRect">
            <a:avLst>
              <a:gd name="adj" fmla="val 2626"/>
            </a:avLst>
          </a:prstGeom>
          <a:noFill/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3995936" y="3142709"/>
            <a:ext cx="3240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음의 정수를 표현하는 방식</a:t>
            </a:r>
            <a:endParaRPr lang="en-US" altLang="ko-KR" sz="1200" b="1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2</a:t>
            </a:r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의 보수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를 취하여 음의 정수를 표현한다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8024" y="5086925"/>
            <a:ext cx="3456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2</a:t>
            </a: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의 보수 표현법이 </a:t>
            </a:r>
            <a:endParaRPr lang="en-US" altLang="ko-KR" sz="1200" b="1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음수를 표현하는데에 있어서 타당한지를 확인</a:t>
            </a:r>
            <a:endParaRPr lang="en-US" altLang="ko-KR" sz="1200" b="1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0FCC7F7-33A9-CE27-1D8B-98400F21D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172" y="71919"/>
            <a:ext cx="8229600" cy="620777"/>
          </a:xfrm>
        </p:spPr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실습</a:t>
            </a:r>
            <a:r>
              <a:rPr lang="en-US" altLang="ko-KR" dirty="0"/>
              <a:t>1) </a:t>
            </a:r>
            <a:r>
              <a:rPr lang="ko-KR" altLang="en-US" dirty="0"/>
              <a:t>음수 표현 확인하기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4D57AF7-6472-D6A3-3A22-C33D03BFF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6" y="908720"/>
            <a:ext cx="8512952" cy="31683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87C08C-B87E-00B8-FD4C-45A3898B1FC2}"/>
              </a:ext>
            </a:extLst>
          </p:cNvPr>
          <p:cNvSpPr txBox="1"/>
          <p:nvPr/>
        </p:nvSpPr>
        <p:spPr>
          <a:xfrm>
            <a:off x="467544" y="4509120"/>
            <a:ext cx="81589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Visual studio</a:t>
            </a:r>
            <a:r>
              <a:rPr lang="ko-KR" altLang="en-US" dirty="0"/>
              <a:t>를 실행하고 위 코드를 작성해서 </a:t>
            </a:r>
            <a:r>
              <a:rPr lang="en-US" altLang="ko-KR" dirty="0"/>
              <a:t>break point</a:t>
            </a:r>
            <a:r>
              <a:rPr lang="ko-KR" altLang="en-US" dirty="0"/>
              <a:t>를 걸고</a:t>
            </a:r>
            <a:endParaRPr lang="en-US" altLang="ko-KR" dirty="0"/>
          </a:p>
          <a:p>
            <a:r>
              <a:rPr lang="ko-KR" altLang="en-US" dirty="0"/>
              <a:t>조사식에 </a:t>
            </a:r>
            <a:r>
              <a:rPr lang="en-US" altLang="ko-KR" dirty="0" err="1"/>
              <a:t>val</a:t>
            </a:r>
            <a:r>
              <a:rPr lang="ko-KR" altLang="en-US" dirty="0"/>
              <a:t>와 </a:t>
            </a:r>
            <a:r>
              <a:rPr lang="en-US" altLang="ko-KR" dirty="0" err="1"/>
              <a:t>val_minus</a:t>
            </a:r>
            <a:r>
              <a:rPr lang="en-US" altLang="ko-KR" dirty="0"/>
              <a:t> </a:t>
            </a:r>
            <a:r>
              <a:rPr lang="ko-KR" altLang="en-US" dirty="0"/>
              <a:t>변수의 값을 </a:t>
            </a:r>
            <a:r>
              <a:rPr lang="en-US" altLang="ko-KR" dirty="0"/>
              <a:t>16</a:t>
            </a:r>
            <a:r>
              <a:rPr lang="ko-KR" altLang="en-US" dirty="0"/>
              <a:t>진수로 확인하고 </a:t>
            </a:r>
            <a:r>
              <a:rPr lang="en-US" altLang="ko-KR" dirty="0"/>
              <a:t>2</a:t>
            </a:r>
            <a:r>
              <a:rPr lang="ko-KR" altLang="en-US" dirty="0"/>
              <a:t>진수로 변환하여 작성 후 수기로 실제 </a:t>
            </a:r>
            <a:r>
              <a:rPr lang="en-US" altLang="ko-KR" dirty="0"/>
              <a:t>0</a:t>
            </a:r>
            <a:r>
              <a:rPr lang="ko-KR" altLang="en-US" dirty="0"/>
              <a:t>이 계산되는지를 확인한다</a:t>
            </a:r>
            <a:r>
              <a:rPr lang="en-US" altLang="ko-KR" dirty="0"/>
              <a:t>! </a:t>
            </a:r>
          </a:p>
          <a:p>
            <a:r>
              <a:rPr lang="ko-KR" altLang="en-US" dirty="0"/>
              <a:t>팀원과 함께 서로 이해하고 있는지 확인하기</a:t>
            </a:r>
            <a:r>
              <a:rPr lang="en-US" altLang="ko-KR" dirty="0"/>
              <a:t>!!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51359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rgbClr val="FF0000"/>
                </a:solidFill>
                <a:latin typeface="+mn-ea"/>
                <a:ea typeface="+mn-ea"/>
              </a:rPr>
              <a:t>실수의 표현방식</a:t>
            </a:r>
            <a:r>
              <a:rPr lang="en-US" altLang="ko-KR" sz="250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ko-KR" altLang="en-US" sz="2500" dirty="0">
                <a:solidFill>
                  <a:srgbClr val="FF0000"/>
                </a:solidFill>
                <a:latin typeface="+mn-ea"/>
                <a:ea typeface="+mn-ea"/>
              </a:rPr>
              <a:t>시험</a:t>
            </a:r>
            <a:r>
              <a:rPr lang="en-US" altLang="ko-KR" sz="250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endParaRPr lang="ko-KR" altLang="en-US" sz="25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79708" y="2276872"/>
            <a:ext cx="3960440" cy="1241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539552" y="1340768"/>
            <a:ext cx="6624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다음의 방식과 같이 정수를 표현하는 방식과 유사하게 실수를 표현하면 다음의 문제가 따른다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∙ </a:t>
            </a:r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표현할 수 있는 실수의 수가 몇 개 되지 않는다</a:t>
            </a:r>
            <a:r>
              <a:rPr lang="en-US" altLang="ko-KR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∙ 3.1245</a:t>
            </a:r>
            <a:r>
              <a:rPr lang="en-US" altLang="ko-KR" sz="1200" b="1" dirty="0">
                <a:solidFill>
                  <a:srgbClr val="C00000"/>
                </a:solidFill>
                <a:latin typeface="+mn-ea"/>
              </a:rPr>
              <a:t>6</a:t>
            </a:r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과 </a:t>
            </a:r>
            <a:r>
              <a:rPr lang="en-US" altLang="ko-KR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3.1245</a:t>
            </a:r>
            <a:r>
              <a:rPr lang="en-US" altLang="ko-KR" sz="1200" b="1" dirty="0">
                <a:solidFill>
                  <a:srgbClr val="C00000"/>
                </a:solidFill>
                <a:latin typeface="+mn-ea"/>
              </a:rPr>
              <a:t>7</a:t>
            </a:r>
            <a:r>
              <a:rPr lang="en-US" altLang="ko-KR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사이에 있는 무수히 많은 실수조차 제대로 표현하지 못한다</a:t>
            </a:r>
            <a:r>
              <a:rPr lang="en-US" altLang="ko-KR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. </a:t>
            </a:r>
          </a:p>
        </p:txBody>
      </p:sp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92687" y="4581128"/>
            <a:ext cx="3835697" cy="1670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611560" y="3645024"/>
            <a:ext cx="6624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따라서 실수의 표현방식은 정수의 표현방식과 다르다</a:t>
            </a:r>
            <a:r>
              <a:rPr lang="en-US" altLang="ko-KR" sz="1200" b="1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∙ </a:t>
            </a:r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실수의 표현방식에서는 정밀도를 포기하는 대신에 표현할 수 있는 값의 범위를 넓힌다</a:t>
            </a:r>
            <a:r>
              <a:rPr lang="en-US" altLang="ko-KR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 ∙ </a:t>
            </a:r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따라서 컴퓨터는 완벽하게 정밀한 실수를 표현하지 못한다</a:t>
            </a:r>
            <a:r>
              <a:rPr lang="en-US" altLang="ko-KR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11760" y="5649737"/>
            <a:ext cx="1944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737C22"/>
                </a:solidFill>
                <a:latin typeface="+mn-ea"/>
              </a:rPr>
              <a:t>오차가 존재하지만 </a:t>
            </a:r>
            <a:endParaRPr lang="en-US" altLang="ko-KR" sz="1200" b="1" dirty="0">
              <a:solidFill>
                <a:srgbClr val="737C22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737C22"/>
                </a:solidFill>
                <a:latin typeface="+mn-ea"/>
              </a:rPr>
              <a:t>적절한 실수의 표현방법</a:t>
            </a:r>
            <a:endParaRPr lang="en-US" altLang="ko-KR" sz="1200" b="1" dirty="0">
              <a:solidFill>
                <a:srgbClr val="737C22"/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64160" y="2780928"/>
            <a:ext cx="1719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737C22"/>
                </a:solidFill>
                <a:latin typeface="+mn-ea"/>
              </a:rPr>
              <a:t>적절하지 못한 실수의 </a:t>
            </a:r>
            <a:endParaRPr lang="en-US" altLang="ko-KR" sz="1200" b="1" dirty="0">
              <a:solidFill>
                <a:srgbClr val="737C22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737C22"/>
                </a:solidFill>
                <a:latin typeface="+mn-ea"/>
              </a:rPr>
              <a:t>표현방법</a:t>
            </a:r>
            <a:endParaRPr lang="en-US" altLang="ko-KR" sz="1200" b="1" dirty="0">
              <a:solidFill>
                <a:srgbClr val="737C22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내용 개체 틀 1"/>
          <p:cNvSpPr>
            <a:spLocks noGrp="1"/>
          </p:cNvSpPr>
          <p:nvPr>
            <p:ph sz="quarter" idx="10"/>
          </p:nvPr>
        </p:nvSpPr>
        <p:spPr>
          <a:xfrm>
            <a:off x="228600" y="931863"/>
            <a:ext cx="8686800" cy="5715000"/>
          </a:xfrm>
        </p:spPr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진수의 실수 표현</a:t>
            </a:r>
            <a:endParaRPr lang="en-US" altLang="ko-KR" dirty="0"/>
          </a:p>
          <a:p>
            <a:pPr lvl="1"/>
            <a:r>
              <a:rPr lang="ko-KR" altLang="en-US" dirty="0"/>
              <a:t>고정 소수점 표현</a:t>
            </a:r>
            <a:endParaRPr lang="en-US" altLang="ko-KR" dirty="0"/>
          </a:p>
          <a:p>
            <a:pPr lvl="2"/>
            <a:r>
              <a:rPr lang="ko-KR" altLang="en-US" dirty="0"/>
              <a:t>소수점이 항상 최상위 비트의 왼쪽 밖에 고정되어 있는 것으로 </a:t>
            </a:r>
            <a:br>
              <a:rPr lang="en-US" altLang="ko-KR" dirty="0"/>
            </a:br>
            <a:r>
              <a:rPr lang="ko-KR" altLang="en-US" dirty="0"/>
              <a:t>취급하는 방법</a:t>
            </a:r>
            <a:endParaRPr lang="en-US" altLang="ko-KR" dirty="0"/>
          </a:p>
          <a:p>
            <a:pPr lvl="2"/>
            <a:r>
              <a:rPr lang="ko-KR" altLang="en-US" dirty="0"/>
              <a:t>고정 소수점 표현의 </a:t>
            </a:r>
            <a:r>
              <a:rPr lang="en-US" altLang="ko-KR" sz="2400" b="1" dirty="0">
                <a:solidFill>
                  <a:srgbClr val="3366FF"/>
                </a:solidFill>
              </a:rPr>
              <a:t>00010101</a:t>
            </a:r>
            <a:r>
              <a:rPr lang="ko-KR" altLang="en-US" dirty="0"/>
              <a:t>은 </a:t>
            </a:r>
            <a:r>
              <a:rPr lang="en-US" altLang="ko-KR" sz="2400" b="1" dirty="0">
                <a:solidFill>
                  <a:srgbClr val="3366FF"/>
                </a:solidFill>
              </a:rPr>
              <a:t>0.00010101</a:t>
            </a:r>
            <a:r>
              <a:rPr lang="ko-KR" altLang="en-US" dirty="0"/>
              <a:t>의 실수 값을 의미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부동 소수점 형식의 표현</a:t>
            </a:r>
            <a:endParaRPr lang="en-US" altLang="ko-KR" dirty="0"/>
          </a:p>
          <a:p>
            <a:pPr lvl="2"/>
            <a:r>
              <a:rPr lang="ko-KR" altLang="en-US" dirty="0"/>
              <a:t>고정 소수점 형식에 비해서 표현 가능한 값의 범위가 넓음</a:t>
            </a:r>
            <a:endParaRPr lang="en-US" altLang="ko-KR" dirty="0"/>
          </a:p>
          <a:p>
            <a:pPr lvl="2"/>
            <a:r>
              <a:rPr lang="ko-KR" altLang="en-US" dirty="0"/>
              <a:t>실수를 구분하여 표현</a:t>
            </a:r>
            <a:endParaRPr lang="en-US" altLang="ko-KR" dirty="0"/>
          </a:p>
          <a:p>
            <a:pPr marL="895350" lvl="3" indent="0" eaLnBrk="1" hangingPunct="1">
              <a:buFont typeface="Arial" panose="020B0604020202020204" pitchFamily="34" charset="0"/>
              <a:buNone/>
            </a:pPr>
            <a:endParaRPr lang="ko-KR" altLang="en-US" dirty="0"/>
          </a:p>
        </p:txBody>
      </p:sp>
      <p:sp>
        <p:nvSpPr>
          <p:cNvPr id="24579" name="제목 2"/>
          <p:cNvSpPr>
            <a:spLocks noGrp="1"/>
          </p:cNvSpPr>
          <p:nvPr>
            <p:ph type="title"/>
          </p:nvPr>
        </p:nvSpPr>
        <p:spPr>
          <a:xfrm>
            <a:off x="457200" y="211137"/>
            <a:ext cx="8229600" cy="52231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ko-KR" dirty="0"/>
              <a:t>2. </a:t>
            </a:r>
            <a:r>
              <a:rPr lang="ko-KR" altLang="en-US" dirty="0"/>
              <a:t>자료의 표현 </a:t>
            </a:r>
            <a:r>
              <a:rPr lang="en-US" altLang="ko-KR" dirty="0"/>
              <a:t>: </a:t>
            </a:r>
            <a:r>
              <a:rPr lang="ko-KR" altLang="en-US" dirty="0"/>
              <a:t>수치 자료의 표현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4656138"/>
            <a:ext cx="4991100" cy="199072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내용 개체 틀 1"/>
          <p:cNvSpPr>
            <a:spLocks noGrp="1"/>
          </p:cNvSpPr>
          <p:nvPr>
            <p:ph sz="quarter" idx="10"/>
          </p:nvPr>
        </p:nvSpPr>
        <p:spPr>
          <a:xfrm>
            <a:off x="228600" y="931863"/>
            <a:ext cx="8686800" cy="5715000"/>
          </a:xfrm>
        </p:spPr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진수의 실수 표현</a:t>
            </a:r>
            <a:endParaRPr lang="en-US" altLang="ko-KR" dirty="0"/>
          </a:p>
          <a:p>
            <a:pPr lvl="1"/>
            <a:r>
              <a:rPr lang="ko-KR" altLang="en-US" dirty="0"/>
              <a:t>부동 소수점 형식의 표현</a:t>
            </a:r>
            <a:endParaRPr lang="en-US" altLang="ko-KR" dirty="0"/>
          </a:p>
          <a:p>
            <a:pPr marL="895350" lvl="3" indent="0" eaLnBrk="1" hangingPunct="1">
              <a:buFont typeface="Arial" panose="020B0604020202020204" pitchFamily="34" charset="0"/>
              <a:buNone/>
            </a:pPr>
            <a:endParaRPr lang="ko-KR" altLang="en-US" dirty="0"/>
          </a:p>
        </p:txBody>
      </p:sp>
      <p:sp>
        <p:nvSpPr>
          <p:cNvPr id="25603" name="제목 2"/>
          <p:cNvSpPr>
            <a:spLocks noGrp="1"/>
          </p:cNvSpPr>
          <p:nvPr>
            <p:ph type="title"/>
          </p:nvPr>
        </p:nvSpPr>
        <p:spPr>
          <a:xfrm>
            <a:off x="539552" y="59370"/>
            <a:ext cx="8229600" cy="594320"/>
          </a:xfrm>
        </p:spPr>
        <p:txBody>
          <a:bodyPr/>
          <a:lstStyle/>
          <a:p>
            <a:pPr eaLnBrk="1" hangingPunct="1"/>
            <a:r>
              <a:rPr lang="en-US" altLang="ko-KR" dirty="0"/>
              <a:t>2. </a:t>
            </a:r>
            <a:r>
              <a:rPr lang="ko-KR" altLang="en-US" dirty="0"/>
              <a:t>자료의 표현 </a:t>
            </a:r>
            <a:r>
              <a:rPr lang="en-US" altLang="ko-KR" dirty="0"/>
              <a:t>: </a:t>
            </a:r>
            <a:r>
              <a:rPr lang="ko-KR" altLang="en-US" dirty="0"/>
              <a:t>수치 자료의 표현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시험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55" y="1844824"/>
            <a:ext cx="7861290" cy="3295355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4749926" y="1566054"/>
            <a:ext cx="30060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/>
            <a:r>
              <a:rPr lang="en-US" altLang="ko-KR" sz="1200" dirty="0">
                <a:solidFill>
                  <a:srgbClr val="0000CC"/>
                </a:solidFill>
                <a:latin typeface="HY엽서L" panose="02030600000101010101" pitchFamily="18" charset="-127"/>
                <a:ea typeface="HY엽서L" panose="02030600000101010101" pitchFamily="18" charset="-127"/>
              </a:rPr>
              <a:t>4</a:t>
            </a:r>
            <a:r>
              <a:rPr lang="ko-KR" altLang="en-US" sz="1200" dirty="0">
                <a:solidFill>
                  <a:srgbClr val="0000CC"/>
                </a:solidFill>
                <a:latin typeface="HY엽서L" panose="02030600000101010101" pitchFamily="18" charset="-127"/>
                <a:ea typeface="HY엽서L" panose="02030600000101010101" pitchFamily="18" charset="-127"/>
              </a:rPr>
              <a:t>바이트를 사용하는 부동 소수점 형식</a:t>
            </a:r>
            <a:endParaRPr lang="en-US" altLang="ko-KR" sz="1200" dirty="0">
              <a:solidFill>
                <a:srgbClr val="0000CC"/>
              </a:solidFill>
              <a:latin typeface="HY엽서L" panose="02030600000101010101" pitchFamily="18" charset="-127"/>
              <a:ea typeface="HY엽서L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835939" y="3198449"/>
            <a:ext cx="30060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/>
            <a:r>
              <a:rPr lang="en-US" altLang="ko-KR" sz="1200" dirty="0">
                <a:solidFill>
                  <a:srgbClr val="0000CC"/>
                </a:solidFill>
                <a:latin typeface="HY엽서L" panose="02030600000101010101" pitchFamily="18" charset="-127"/>
                <a:ea typeface="HY엽서L" panose="02030600000101010101" pitchFamily="18" charset="-127"/>
              </a:rPr>
              <a:t>8</a:t>
            </a:r>
            <a:r>
              <a:rPr lang="ko-KR" altLang="en-US" sz="1200" dirty="0">
                <a:solidFill>
                  <a:srgbClr val="0000CC"/>
                </a:solidFill>
                <a:latin typeface="HY엽서L" panose="02030600000101010101" pitchFamily="18" charset="-127"/>
                <a:ea typeface="HY엽서L" panose="02030600000101010101" pitchFamily="18" charset="-127"/>
              </a:rPr>
              <a:t>바이트를 사용하는 부동 소수점 형식</a:t>
            </a:r>
            <a:endParaRPr lang="en-US" altLang="ko-KR" sz="1200" dirty="0">
              <a:solidFill>
                <a:srgbClr val="0000CC"/>
              </a:solidFill>
              <a:latin typeface="HY엽서L" panose="02030600000101010101" pitchFamily="18" charset="-127"/>
              <a:ea typeface="HY엽서L" panose="02030600000101010101" pitchFamily="18" charset="-127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0FCC7F7-33A9-CE27-1D8B-98400F21D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036" y="134341"/>
            <a:ext cx="8229600" cy="594320"/>
          </a:xfrm>
        </p:spPr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실습</a:t>
            </a:r>
            <a:r>
              <a:rPr lang="en-US" altLang="ko-KR" dirty="0"/>
              <a:t>2) </a:t>
            </a:r>
            <a:r>
              <a:rPr lang="ko-KR" altLang="en-US" dirty="0"/>
              <a:t>실수 표현 확인하기 </a:t>
            </a:r>
            <a:r>
              <a:rPr lang="en-US" altLang="ko-KR" dirty="0"/>
              <a:t>(IEEE754)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87C08C-B87E-00B8-FD4C-45A3898B1FC2}"/>
              </a:ext>
            </a:extLst>
          </p:cNvPr>
          <p:cNvSpPr txBox="1"/>
          <p:nvPr/>
        </p:nvSpPr>
        <p:spPr>
          <a:xfrm>
            <a:off x="467544" y="4509120"/>
            <a:ext cx="81589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Visual studio</a:t>
            </a:r>
            <a:r>
              <a:rPr lang="ko-KR" altLang="en-US" dirty="0"/>
              <a:t>를 실행하고 위 코드를 작성해서 </a:t>
            </a:r>
            <a:r>
              <a:rPr lang="en-US" altLang="ko-KR" dirty="0"/>
              <a:t>break point</a:t>
            </a:r>
            <a:r>
              <a:rPr lang="ko-KR" altLang="en-US" dirty="0"/>
              <a:t>를 걸고</a:t>
            </a:r>
            <a:endParaRPr lang="en-US" altLang="ko-KR" dirty="0"/>
          </a:p>
          <a:p>
            <a:r>
              <a:rPr lang="ko-KR" altLang="en-US" dirty="0"/>
              <a:t>조사식에 </a:t>
            </a:r>
            <a:r>
              <a:rPr lang="en-US" altLang="ko-KR" dirty="0"/>
              <a:t>num</a:t>
            </a:r>
            <a:r>
              <a:rPr lang="ko-KR" altLang="en-US" dirty="0"/>
              <a:t>와 </a:t>
            </a:r>
            <a:r>
              <a:rPr lang="en-US" altLang="ko-KR" dirty="0" err="1"/>
              <a:t>dnum</a:t>
            </a:r>
            <a:r>
              <a:rPr lang="en-US" altLang="ko-KR" dirty="0"/>
              <a:t> </a:t>
            </a:r>
            <a:r>
              <a:rPr lang="ko-KR" altLang="en-US" dirty="0"/>
              <a:t>변수의 값을 </a:t>
            </a:r>
            <a:r>
              <a:rPr lang="en-US" altLang="ko-KR" dirty="0"/>
              <a:t>16</a:t>
            </a:r>
            <a:r>
              <a:rPr lang="ko-KR" altLang="en-US" dirty="0"/>
              <a:t>진수로 확인하고 </a:t>
            </a:r>
            <a:r>
              <a:rPr lang="en-US" altLang="ko-KR" dirty="0"/>
              <a:t>2</a:t>
            </a:r>
            <a:r>
              <a:rPr lang="ko-KR" altLang="en-US" dirty="0"/>
              <a:t>진수로 변환</a:t>
            </a:r>
            <a:endParaRPr lang="en-US" altLang="ko-KR" dirty="0"/>
          </a:p>
          <a:p>
            <a:r>
              <a:rPr lang="ko-KR" altLang="en-US" dirty="0"/>
              <a:t>메모리창을 띄우고 확인해서 실제 값 확인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팀원과 함께 서로 이해하고 있는지 확인하기</a:t>
            </a:r>
            <a:r>
              <a:rPr lang="en-US" altLang="ko-KR" dirty="0"/>
              <a:t>!!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A13AD5B-11EB-A500-7F26-05727C1DC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1" y="880846"/>
            <a:ext cx="8722103" cy="347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53696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실수 표현의 오차 확인하기</a:t>
            </a:r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342" y="1700808"/>
            <a:ext cx="4800600" cy="262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3382" y="4031568"/>
            <a:ext cx="30670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직사각형 12"/>
          <p:cNvSpPr/>
          <p:nvPr/>
        </p:nvSpPr>
        <p:spPr>
          <a:xfrm>
            <a:off x="5364088" y="3648444"/>
            <a:ext cx="1008112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00B050"/>
                </a:solidFill>
                <a:latin typeface="휴먼편지체" pitchFamily="18" charset="-127"/>
                <a:ea typeface="휴먼편지체" pitchFamily="18" charset="-127"/>
              </a:rPr>
              <a:t>실행결과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544" y="4798893"/>
            <a:ext cx="7128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이론적으로 오차 없이 모든 실수를 완벽하게 표현할 능력이 있는 컴퓨팅 환경은 존재하지 않는다</a:t>
            </a:r>
            <a:r>
              <a:rPr lang="en-US" altLang="ko-KR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즉</a:t>
            </a:r>
            <a:r>
              <a:rPr lang="en-US" altLang="ko-KR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실수 표현에 있어서의 오차 발생은 </a:t>
            </a:r>
            <a:r>
              <a:rPr lang="en-US" altLang="ko-KR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C</a:t>
            </a:r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언어의 특성이 아닌 컴퓨터의 기본적인 특성이다</a:t>
            </a:r>
            <a:r>
              <a:rPr lang="en-US" altLang="ko-KR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.  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/>
            <a:r>
              <a:rPr lang="ko-KR" altLang="en-US" sz="29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비트 연산자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14282" y="214290"/>
            <a:ext cx="8715436" cy="6429420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15074" y="1571612"/>
            <a:ext cx="97155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58082" y="1785926"/>
            <a:ext cx="10953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32574" y="1664376"/>
            <a:ext cx="33337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12086" y="2402364"/>
            <a:ext cx="4381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215338" y="2500306"/>
            <a:ext cx="495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429652" y="1857364"/>
            <a:ext cx="32385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786578" y="857232"/>
            <a:ext cx="6477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643834" y="1071546"/>
            <a:ext cx="1028700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8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 rot="19550150">
            <a:off x="7252041" y="1319198"/>
            <a:ext cx="54292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4" name="Picture 16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429520" y="714356"/>
            <a:ext cx="2667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5" name="Picture 1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715272" y="785794"/>
            <a:ext cx="2667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6" name="Picture 18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072462" y="714356"/>
            <a:ext cx="32385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비트 연산자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비트 이동 연산자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endParaRPr lang="ko-KR" altLang="en-US" sz="25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1740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556792"/>
            <a:ext cx="7343775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&amp; 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연산자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비트단위 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AND</a:t>
            </a:r>
            <a:endParaRPr lang="ko-KR" altLang="en-US" sz="25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1638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28184" y="1700808"/>
            <a:ext cx="2143125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모서리가 둥근 직사각형 9"/>
          <p:cNvSpPr/>
          <p:nvPr/>
        </p:nvSpPr>
        <p:spPr>
          <a:xfrm>
            <a:off x="6156176" y="1628800"/>
            <a:ext cx="2448272" cy="1296144"/>
          </a:xfrm>
          <a:prstGeom prst="roundRect">
            <a:avLst>
              <a:gd name="adj" fmla="val 2626"/>
            </a:avLst>
          </a:prstGeom>
          <a:noFill/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6202" y="1632220"/>
            <a:ext cx="5295900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11960" y="3648444"/>
            <a:ext cx="17335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직사각형 11"/>
          <p:cNvSpPr/>
          <p:nvPr/>
        </p:nvSpPr>
        <p:spPr>
          <a:xfrm>
            <a:off x="5004048" y="3864468"/>
            <a:ext cx="1008112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00B050"/>
                </a:solidFill>
                <a:latin typeface="휴먼편지체" pitchFamily="18" charset="-127"/>
                <a:ea typeface="휴먼편지체" pitchFamily="18" charset="-127"/>
              </a:rPr>
              <a:t>실행결과</a:t>
            </a:r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1588" y="4466431"/>
            <a:ext cx="4762500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| 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연산자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비트단위 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OR</a:t>
            </a:r>
            <a:endParaRPr lang="ko-KR" altLang="en-US" sz="25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6156176" y="1628800"/>
            <a:ext cx="2448272" cy="1296144"/>
          </a:xfrm>
          <a:prstGeom prst="roundRect">
            <a:avLst>
              <a:gd name="adj" fmla="val 2626"/>
            </a:avLst>
          </a:prstGeom>
          <a:noFill/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00192" y="1700808"/>
            <a:ext cx="1914525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1628800"/>
            <a:ext cx="4886325" cy="178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25212" y="3487756"/>
            <a:ext cx="161925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직사각형 13"/>
          <p:cNvSpPr/>
          <p:nvPr/>
        </p:nvSpPr>
        <p:spPr>
          <a:xfrm>
            <a:off x="4932040" y="3717032"/>
            <a:ext cx="1008112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00B050"/>
                </a:solidFill>
                <a:latin typeface="휴먼편지체" pitchFamily="18" charset="-127"/>
                <a:ea typeface="휴먼편지체" pitchFamily="18" charset="-127"/>
              </a:rPr>
              <a:t>실행결과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71600" y="4221088"/>
            <a:ext cx="4457700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^ 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연산자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비트단위 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XOR</a:t>
            </a:r>
            <a:endParaRPr lang="ko-KR" altLang="en-US" sz="25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1536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84168" y="1685038"/>
            <a:ext cx="216217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1628800"/>
            <a:ext cx="5200650" cy="192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6180" y="3677276"/>
            <a:ext cx="184785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직사각형 22"/>
          <p:cNvSpPr/>
          <p:nvPr/>
        </p:nvSpPr>
        <p:spPr>
          <a:xfrm>
            <a:off x="4932040" y="4005064"/>
            <a:ext cx="1008112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00B050"/>
                </a:solidFill>
                <a:latin typeface="휴먼편지체" pitchFamily="18" charset="-127"/>
                <a:ea typeface="휴먼편지체" pitchFamily="18" charset="-127"/>
              </a:rPr>
              <a:t>실행결과</a:t>
            </a:r>
          </a:p>
        </p:txBody>
      </p:sp>
      <p:sp>
        <p:nvSpPr>
          <p:cNvPr id="24" name="모서리가 둥근 직사각형 23"/>
          <p:cNvSpPr/>
          <p:nvPr/>
        </p:nvSpPr>
        <p:spPr>
          <a:xfrm>
            <a:off x="6012160" y="1628800"/>
            <a:ext cx="2448272" cy="1296144"/>
          </a:xfrm>
          <a:prstGeom prst="roundRect">
            <a:avLst>
              <a:gd name="adj" fmla="val 2626"/>
            </a:avLst>
          </a:prstGeom>
          <a:noFill/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9552" y="4509120"/>
            <a:ext cx="4772025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~ 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연산자</a:t>
            </a:r>
          </a:p>
        </p:txBody>
      </p:sp>
      <p:pic>
        <p:nvPicPr>
          <p:cNvPr id="1433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84168" y="1773188"/>
            <a:ext cx="195262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모서리가 둥근 직사각형 8"/>
          <p:cNvSpPr/>
          <p:nvPr/>
        </p:nvSpPr>
        <p:spPr>
          <a:xfrm>
            <a:off x="6012160" y="1628800"/>
            <a:ext cx="2448272" cy="864096"/>
          </a:xfrm>
          <a:prstGeom prst="roundRect">
            <a:avLst>
              <a:gd name="adj" fmla="val 2626"/>
            </a:avLst>
          </a:prstGeom>
          <a:noFill/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1628800"/>
            <a:ext cx="5143500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25416" y="3429000"/>
            <a:ext cx="20097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직사각형 11"/>
          <p:cNvSpPr/>
          <p:nvPr/>
        </p:nvSpPr>
        <p:spPr>
          <a:xfrm>
            <a:off x="4932040" y="3789040"/>
            <a:ext cx="1008112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00B050"/>
                </a:solidFill>
                <a:latin typeface="휴먼편지체" pitchFamily="18" charset="-127"/>
                <a:ea typeface="휴먼편지체" pitchFamily="18" charset="-127"/>
              </a:rPr>
              <a:t>실행결과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755576" y="4725144"/>
            <a:ext cx="4896544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500" dirty="0">
                <a:latin typeface="+mn-ea"/>
              </a:rPr>
              <a:t>~ </a:t>
            </a:r>
            <a:r>
              <a:rPr lang="ko-KR" altLang="en-US" sz="1500" dirty="0">
                <a:latin typeface="+mn-ea"/>
              </a:rPr>
              <a:t>연산 전</a:t>
            </a:r>
            <a:r>
              <a:rPr lang="en-US" altLang="ko-KR" sz="1500" dirty="0">
                <a:latin typeface="+mn-ea"/>
              </a:rPr>
              <a:t>    00000000 00000000 00000000 00001111</a:t>
            </a:r>
          </a:p>
          <a:p>
            <a:endParaRPr lang="en-US" altLang="ko-KR" sz="1500" dirty="0">
              <a:latin typeface="+mn-ea"/>
            </a:endParaRPr>
          </a:p>
          <a:p>
            <a:r>
              <a:rPr lang="en-US" altLang="ko-KR" sz="1500" dirty="0">
                <a:latin typeface="+mn-ea"/>
              </a:rPr>
              <a:t>~ </a:t>
            </a:r>
            <a:r>
              <a:rPr lang="ko-KR" altLang="en-US" sz="1500" dirty="0">
                <a:latin typeface="+mn-ea"/>
              </a:rPr>
              <a:t>연산 후    </a:t>
            </a:r>
            <a:r>
              <a:rPr lang="en-US" altLang="ko-KR" sz="1500" dirty="0">
                <a:latin typeface="+mn-ea"/>
              </a:rPr>
              <a:t>11111111 11111111 11111111 11110000</a:t>
            </a:r>
            <a:endParaRPr lang="ko-KR" altLang="en-US" sz="1500" dirty="0">
              <a:latin typeface="+mn-ea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683568" y="4581128"/>
            <a:ext cx="4968552" cy="1080120"/>
          </a:xfrm>
          <a:prstGeom prst="roundRect">
            <a:avLst>
              <a:gd name="adj" fmla="val 2626"/>
            </a:avLst>
          </a:prstGeom>
          <a:noFill/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&lt;&lt; 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연산자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en-US" sz="2500" dirty="0">
                <a:solidFill>
                  <a:schemeClr val="tx1"/>
                </a:solidFill>
                <a:latin typeface="+mn-ea"/>
                <a:ea typeface="+mn-ea"/>
              </a:rPr>
              <a:t>비트의 왼쪽 이동</a:t>
            </a:r>
            <a:r>
              <a:rPr lang="en-US" altLang="ko-KR" sz="2500" dirty="0">
                <a:solidFill>
                  <a:schemeClr val="tx1"/>
                </a:solidFill>
                <a:latin typeface="+mn-ea"/>
                <a:ea typeface="+mn-ea"/>
              </a:rPr>
              <a:t>(Shift)</a:t>
            </a:r>
            <a:endParaRPr lang="ko-KR" altLang="en-US" sz="25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7462" y="2060848"/>
            <a:ext cx="5065460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2396" y="4129163"/>
            <a:ext cx="1656184" cy="739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직사각형 10"/>
          <p:cNvSpPr/>
          <p:nvPr/>
        </p:nvSpPr>
        <p:spPr>
          <a:xfrm>
            <a:off x="6510468" y="3697115"/>
            <a:ext cx="1008112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00B050"/>
                </a:solidFill>
                <a:latin typeface="휴먼편지체" pitchFamily="18" charset="-127"/>
                <a:ea typeface="휴먼편지체" pitchFamily="18" charset="-127"/>
              </a:rPr>
              <a:t>실행결과</a:t>
            </a:r>
          </a:p>
        </p:txBody>
      </p:sp>
      <p:sp>
        <p:nvSpPr>
          <p:cNvPr id="12" name="모서리가 둥근 직사각형 11"/>
          <p:cNvSpPr/>
          <p:nvPr/>
        </p:nvSpPr>
        <p:spPr>
          <a:xfrm>
            <a:off x="2117980" y="2924943"/>
            <a:ext cx="648072" cy="648072"/>
          </a:xfrm>
          <a:prstGeom prst="roundRect">
            <a:avLst>
              <a:gd name="adj" fmla="val 5374"/>
            </a:avLst>
          </a:prstGeom>
          <a:solidFill>
            <a:srgbClr val="FF0000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715820" y="5120421"/>
            <a:ext cx="4824536" cy="8876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00000000 00000000 00000000 000</a:t>
            </a:r>
            <a:r>
              <a:rPr lang="en-US" altLang="ko-KR" sz="1200" b="1" dirty="0">
                <a:latin typeface="+mn-ea"/>
              </a:rPr>
              <a:t>11110     // 10</a:t>
            </a:r>
            <a:r>
              <a:rPr lang="ko-KR" altLang="en-US" sz="1200" b="1" dirty="0">
                <a:latin typeface="+mn-ea"/>
              </a:rPr>
              <a:t>진수로 </a:t>
            </a:r>
            <a:r>
              <a:rPr lang="en-US" altLang="ko-KR" sz="1200" b="1" dirty="0">
                <a:latin typeface="+mn-ea"/>
              </a:rPr>
              <a:t>30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00000000 00000000 00000000 00</a:t>
            </a:r>
            <a:r>
              <a:rPr lang="en-US" altLang="ko-KR" sz="1200" b="1" dirty="0">
                <a:latin typeface="+mn-ea"/>
              </a:rPr>
              <a:t>111100     // 10</a:t>
            </a:r>
            <a:r>
              <a:rPr lang="ko-KR" altLang="en-US" sz="1200" b="1" dirty="0">
                <a:latin typeface="+mn-ea"/>
              </a:rPr>
              <a:t>진수로 </a:t>
            </a:r>
            <a:r>
              <a:rPr lang="en-US" altLang="ko-KR" sz="1200" b="1" dirty="0">
                <a:latin typeface="+mn-ea"/>
              </a:rPr>
              <a:t>60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00000000 00000000 00000000 0</a:t>
            </a:r>
            <a:r>
              <a:rPr lang="en-US" altLang="ko-KR" sz="1200" b="1" dirty="0">
                <a:latin typeface="+mn-ea"/>
              </a:rPr>
              <a:t>1111000     // 10</a:t>
            </a:r>
            <a:r>
              <a:rPr lang="ko-KR" altLang="en-US" sz="1200" b="1" dirty="0">
                <a:latin typeface="+mn-ea"/>
              </a:rPr>
              <a:t>진수로 </a:t>
            </a:r>
            <a:r>
              <a:rPr lang="en-US" altLang="ko-KR" sz="1200" b="1" dirty="0">
                <a:latin typeface="+mn-ea"/>
              </a:rPr>
              <a:t>120</a:t>
            </a:r>
            <a:endParaRPr lang="ko-KR" altLang="en-US" sz="1200" dirty="0">
              <a:latin typeface="+mn-ea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643812" y="5143940"/>
            <a:ext cx="4975110" cy="864096"/>
          </a:xfrm>
          <a:prstGeom prst="roundRect">
            <a:avLst>
              <a:gd name="adj" fmla="val 2626"/>
            </a:avLst>
          </a:prstGeom>
          <a:noFill/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5684372" y="5115484"/>
            <a:ext cx="302433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왼쪽으로 한 칸씩 이동할 때마다 정수의 값은 </a:t>
            </a:r>
            <a:r>
              <a:rPr lang="ko-KR" altLang="en-US" sz="1200" b="1" dirty="0">
                <a:solidFill>
                  <a:srgbClr val="CC6600"/>
                </a:solidFill>
                <a:latin typeface="+mn-ea"/>
              </a:rPr>
              <a:t>두 배씩 증가한다</a:t>
            </a:r>
            <a:r>
              <a:rPr lang="en-US" altLang="ko-KR" sz="1200" b="1" dirty="0">
                <a:solidFill>
                  <a:srgbClr val="CC6600"/>
                </a:solidFill>
                <a:latin typeface="+mn-ea"/>
              </a:rPr>
              <a:t>.  </a:t>
            </a:r>
          </a:p>
          <a:p>
            <a:endParaRPr lang="en-US" altLang="ko-KR" sz="400" b="1" dirty="0">
              <a:solidFill>
                <a:srgbClr val="CC6600"/>
              </a:solidFill>
              <a:latin typeface="+mn-ea"/>
            </a:endParaRPr>
          </a:p>
          <a:p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반대로 오른쪽으로 한 칸씩 이동할 때마다 정수의 값은 </a:t>
            </a:r>
            <a:r>
              <a:rPr lang="ko-KR" altLang="en-US" sz="1200" b="1" dirty="0">
                <a:solidFill>
                  <a:srgbClr val="CC6600"/>
                </a:solidFill>
                <a:latin typeface="+mn-ea"/>
              </a:rPr>
              <a:t>반으로 줄어든다</a:t>
            </a:r>
            <a:r>
              <a:rPr lang="en-US" altLang="ko-KR" sz="1200" b="1" dirty="0">
                <a:solidFill>
                  <a:srgbClr val="CC6600"/>
                </a:solidFill>
                <a:latin typeface="+mn-ea"/>
              </a:rPr>
              <a:t>.</a:t>
            </a:r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5057" y="1380525"/>
            <a:ext cx="5328591" cy="478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>
            <a:normAutofit/>
          </a:bodyPr>
          <a:lstStyle/>
          <a:p>
            <a:r>
              <a:rPr lang="en-US" altLang="ko-KR" sz="2500" dirty="0">
                <a:solidFill>
                  <a:schemeClr val="tx1"/>
                </a:solidFill>
                <a:latin typeface="+mn-ea"/>
              </a:rPr>
              <a:t>&gt;&gt; </a:t>
            </a:r>
            <a:r>
              <a:rPr lang="ko-KR" altLang="en-US" sz="2500" dirty="0">
                <a:solidFill>
                  <a:schemeClr val="tx1"/>
                </a:solidFill>
                <a:latin typeface="+mn-ea"/>
              </a:rPr>
              <a:t>연산자</a:t>
            </a:r>
            <a:r>
              <a:rPr lang="en-US" altLang="ko-KR" sz="25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2500" dirty="0">
                <a:solidFill>
                  <a:schemeClr val="tx1"/>
                </a:solidFill>
                <a:latin typeface="+mn-ea"/>
              </a:rPr>
              <a:t>비트의 오른쪽 이동</a:t>
            </a:r>
            <a:r>
              <a:rPr lang="en-US" altLang="ko-KR" sz="2500" dirty="0">
                <a:solidFill>
                  <a:schemeClr val="tx1"/>
                </a:solidFill>
                <a:latin typeface="+mn-ea"/>
              </a:rPr>
              <a:t>(Shift)</a:t>
            </a:r>
            <a:endParaRPr lang="ko-KR" altLang="en-US" sz="25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0316" y="1445028"/>
            <a:ext cx="4305300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2570863"/>
            <a:ext cx="5210175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3568" y="2957196"/>
            <a:ext cx="52006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모서리가 둥근 직사각형 17"/>
          <p:cNvSpPr/>
          <p:nvPr/>
        </p:nvSpPr>
        <p:spPr>
          <a:xfrm>
            <a:off x="611560" y="1340768"/>
            <a:ext cx="5616624" cy="504056"/>
          </a:xfrm>
          <a:prstGeom prst="roundRect">
            <a:avLst>
              <a:gd name="adj" fmla="val 2626"/>
            </a:avLst>
          </a:prstGeom>
          <a:noFill/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611560" y="2453140"/>
            <a:ext cx="5616624" cy="864096"/>
          </a:xfrm>
          <a:prstGeom prst="roundRect">
            <a:avLst>
              <a:gd name="adj" fmla="val 2626"/>
            </a:avLst>
          </a:prstGeom>
          <a:noFill/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710072" y="2597156"/>
            <a:ext cx="216024" cy="648072"/>
          </a:xfrm>
          <a:prstGeom prst="roundRect">
            <a:avLst>
              <a:gd name="adj" fmla="val 5374"/>
            </a:avLst>
          </a:prstGeom>
          <a:solidFill>
            <a:srgbClr val="FF0000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줄무늬가 있는 오른쪽 화살표 20"/>
          <p:cNvSpPr/>
          <p:nvPr/>
        </p:nvSpPr>
        <p:spPr>
          <a:xfrm rot="5400000">
            <a:off x="2195736" y="2021092"/>
            <a:ext cx="360040" cy="288032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2555776" y="2021092"/>
            <a:ext cx="27040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CC6600"/>
                </a:solidFill>
                <a:latin typeface="+mn-ea"/>
              </a:rPr>
              <a:t>CPU</a:t>
            </a:r>
            <a:r>
              <a:rPr lang="ko-KR" altLang="en-US" sz="1200" b="1" dirty="0">
                <a:solidFill>
                  <a:srgbClr val="CC6600"/>
                </a:solidFill>
                <a:latin typeface="+mn-ea"/>
              </a:rPr>
              <a:t>에 따라서 달라지는 연산의 결과</a:t>
            </a:r>
            <a:endParaRPr lang="en-US" altLang="ko-KR" sz="1200" b="1" dirty="0">
              <a:solidFill>
                <a:srgbClr val="CC6600"/>
              </a:solidFill>
              <a:latin typeface="+mn-ea"/>
            </a:endParaRPr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1560" y="4542259"/>
            <a:ext cx="5210175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868144" y="5622379"/>
            <a:ext cx="2390775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직사각형 22"/>
          <p:cNvSpPr/>
          <p:nvPr/>
        </p:nvSpPr>
        <p:spPr>
          <a:xfrm>
            <a:off x="7236296" y="5232620"/>
            <a:ext cx="1008112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rgbClr val="00B050"/>
                </a:solidFill>
                <a:latin typeface="휴먼편지체" pitchFamily="18" charset="-127"/>
                <a:ea typeface="휴먼편지체" pitchFamily="18" charset="-127"/>
              </a:rPr>
              <a:t>실행결과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552" y="3538464"/>
            <a:ext cx="7416824" cy="61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왼쪽 비트가 </a:t>
            </a:r>
            <a:r>
              <a:rPr lang="en-US" altLang="ko-KR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0</a:t>
            </a:r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으로 채워진 음수의 경우 오른쪽으로 비트를 이동시킨 결과는 </a:t>
            </a:r>
            <a:r>
              <a:rPr lang="en-US" altLang="ko-KR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CPU</a:t>
            </a:r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에 따라서 달라진다</a:t>
            </a:r>
            <a:r>
              <a:rPr lang="en-US" altLang="ko-KR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따라서 호환성이 요구되는 경우에는 </a:t>
            </a:r>
            <a:r>
              <a:rPr lang="en-US" altLang="ko-KR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&gt;&gt; </a:t>
            </a:r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연산자의 사용을 제한해야 한다</a:t>
            </a:r>
            <a:r>
              <a:rPr lang="en-US" altLang="ko-KR" sz="12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. </a:t>
            </a:r>
            <a:endParaRPr lang="en-US" altLang="ko-KR" sz="1200" b="1" dirty="0">
              <a:solidFill>
                <a:srgbClr val="CC66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214282" y="214290"/>
            <a:ext cx="8715436" cy="6429420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3571876"/>
            <a:ext cx="8001056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34" y="3214686"/>
            <a:ext cx="3214710" cy="2409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직사각형 11"/>
          <p:cNvSpPr/>
          <p:nvPr/>
        </p:nvSpPr>
        <p:spPr>
          <a:xfrm>
            <a:off x="4214810" y="4857760"/>
            <a:ext cx="4429156" cy="4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900" dirty="0">
                <a:solidFill>
                  <a:srgbClr val="93490B"/>
                </a:solidFill>
                <a:latin typeface="휴먼매직체" pitchFamily="18" charset="-127"/>
                <a:ea typeface="휴먼매직체" pitchFamily="18" charset="-127"/>
              </a:rPr>
              <a:t>Chapter 01</a:t>
            </a:r>
            <a:r>
              <a:rPr lang="ko-KR" altLang="en-US" sz="1900" dirty="0">
                <a:solidFill>
                  <a:srgbClr val="93490B"/>
                </a:solidFill>
                <a:latin typeface="휴먼매직체" pitchFamily="18" charset="-127"/>
                <a:ea typeface="휴먼매직체" pitchFamily="18" charset="-127"/>
              </a:rPr>
              <a:t>이</a:t>
            </a:r>
            <a:r>
              <a:rPr lang="en-US" altLang="ko-KR" sz="1900" dirty="0">
                <a:solidFill>
                  <a:srgbClr val="93490B"/>
                </a:solidFill>
                <a:latin typeface="휴먼매직체" pitchFamily="18" charset="-127"/>
                <a:ea typeface="휴먼매직체" pitchFamily="18" charset="-127"/>
              </a:rPr>
              <a:t> </a:t>
            </a:r>
            <a:r>
              <a:rPr lang="ko-KR" altLang="en-US" sz="1900" dirty="0">
                <a:solidFill>
                  <a:srgbClr val="93490B"/>
                </a:solidFill>
                <a:latin typeface="휴먼매직체" pitchFamily="18" charset="-127"/>
                <a:ea typeface="휴먼매직체" pitchFamily="18" charset="-127"/>
              </a:rPr>
              <a:t>끝났습니다</a:t>
            </a:r>
            <a:r>
              <a:rPr lang="en-US" altLang="ko-KR" sz="1900" dirty="0">
                <a:solidFill>
                  <a:srgbClr val="93490B"/>
                </a:solidFill>
                <a:latin typeface="휴먼매직체" pitchFamily="18" charset="-127"/>
                <a:ea typeface="휴먼매직체" pitchFamily="18" charset="-127"/>
              </a:rPr>
              <a:t>. </a:t>
            </a:r>
            <a:r>
              <a:rPr lang="ko-KR" altLang="en-US" sz="1900" dirty="0">
                <a:solidFill>
                  <a:srgbClr val="93490B"/>
                </a:solidFill>
                <a:latin typeface="휴먼매직체" pitchFamily="18" charset="-127"/>
                <a:ea typeface="휴먼매직체" pitchFamily="18" charset="-127"/>
              </a:rPr>
              <a:t>질문 있으신지요</a:t>
            </a:r>
            <a:r>
              <a:rPr lang="en-US" altLang="ko-KR" sz="1900" dirty="0">
                <a:solidFill>
                  <a:srgbClr val="93490B"/>
                </a:solidFill>
                <a:latin typeface="휴먼매직체" pitchFamily="18" charset="-127"/>
                <a:ea typeface="휴먼매직체" pitchFamily="18" charset="-127"/>
              </a:rPr>
              <a:t>? </a:t>
            </a:r>
            <a:endParaRPr lang="ko-KR" altLang="en-US" sz="1900" dirty="0">
              <a:solidFill>
                <a:srgbClr val="93490B"/>
              </a:solidFill>
              <a:latin typeface="휴먼매직체" pitchFamily="18" charset="-127"/>
              <a:ea typeface="휴먼매직체" pitchFamily="18" charset="-127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원본">
  <a:themeElements>
    <a:clrScheme name="원본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원본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원본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1211</TotalTime>
  <Words>3250</Words>
  <Application>Microsoft Office PowerPoint</Application>
  <PresentationFormat>화면 슬라이드 쇼(4:3)</PresentationFormat>
  <Paragraphs>538</Paragraphs>
  <Slides>72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72</vt:i4>
      </vt:variant>
    </vt:vector>
  </HeadingPairs>
  <TitlesOfParts>
    <vt:vector size="85" baseType="lpstr">
      <vt:lpstr>HY엽서L</vt:lpstr>
      <vt:lpstr>맑은 고딕</vt:lpstr>
      <vt:lpstr>휴먼매직체</vt:lpstr>
      <vt:lpstr>휴먼편지체</vt:lpstr>
      <vt:lpstr>Arial</vt:lpstr>
      <vt:lpstr>Bookman Old Style</vt:lpstr>
      <vt:lpstr>Gill Sans MT</vt:lpstr>
      <vt:lpstr>Open Sans</vt:lpstr>
      <vt:lpstr>Roboto Slab</vt:lpstr>
      <vt:lpstr>Wingdings</vt:lpstr>
      <vt:lpstr>Wingdings 3</vt:lpstr>
      <vt:lpstr>원본</vt:lpstr>
      <vt:lpstr>MathMagic</vt:lpstr>
      <vt:lpstr>C프로그래밍1 (2주차 강의자료)                                  </vt:lpstr>
      <vt:lpstr>VC++에서의 솔루션 생성1</vt:lpstr>
      <vt:lpstr>VC++에서의 솔루션 생성2</vt:lpstr>
      <vt:lpstr>VC++에서의 솔루션 생성3</vt:lpstr>
      <vt:lpstr>VC++에서의 솔루션 생성4</vt:lpstr>
      <vt:lpstr>소스파일의 생성1</vt:lpstr>
      <vt:lpstr>소스파일의 생성2</vt:lpstr>
      <vt:lpstr>생성된 소스파일</vt:lpstr>
      <vt:lpstr>생성된 소스파일과 프로그램의 입력</vt:lpstr>
      <vt:lpstr>컴파일 및 실행결과 확인</vt:lpstr>
      <vt:lpstr>C언어는 프로그래밍 언어이다.</vt:lpstr>
      <vt:lpstr>C언어의 역사와 특징</vt:lpstr>
      <vt:lpstr>C언어의 장점</vt:lpstr>
      <vt:lpstr>C 프로그램 완성과정의 전체적인 이해(중요)</vt:lpstr>
      <vt:lpstr>C언어의 기본단위인 ‘함수’의 이해</vt:lpstr>
      <vt:lpstr>C언어의 기본단위인 ‘함수’의 이해(2)</vt:lpstr>
      <vt:lpstr>Hello world! 들여다보기</vt:lpstr>
      <vt:lpstr>C언어의 기본단위인 ‘함수’의 이해</vt:lpstr>
      <vt:lpstr>예제 Hello.c에서의 함수는 어디에?</vt:lpstr>
      <vt:lpstr>세미콜론</vt:lpstr>
      <vt:lpstr>소스코드의 세세한 분석</vt:lpstr>
      <vt:lpstr>주석의 필요성과 블록단위 주석</vt:lpstr>
      <vt:lpstr>주석처리에 있어서의 주의점</vt:lpstr>
      <vt:lpstr>printf 함수의 기본적인 이해</vt:lpstr>
      <vt:lpstr>printf 함수를 이용한 정수의 출력</vt:lpstr>
      <vt:lpstr>형식 지정자(format specifiers)</vt:lpstr>
      <vt:lpstr>정수의 출력에 사용된 서식문자 %d</vt:lpstr>
      <vt:lpstr>출력의 형태를 다양하게 조합하는 것이 가능하다.</vt:lpstr>
      <vt:lpstr>연산을 위한 연산자와 값의 저장을 위한 변수(Variable)</vt:lpstr>
      <vt:lpstr>덧셈 프로그램의 구현에 필요한 + 연산자</vt:lpstr>
      <vt:lpstr>변수를 이용한 데이터의 저장</vt:lpstr>
      <vt:lpstr>변수를 이용한 데이터의 저장(2)</vt:lpstr>
      <vt:lpstr>변수의 다양한 선언 및 초기화 방법</vt:lpstr>
      <vt:lpstr>변수선언 시 주의할 사항</vt:lpstr>
      <vt:lpstr>변수의 자료형(Data Type) System Defined Type!</vt:lpstr>
      <vt:lpstr>덧셈 프로그램의 완성</vt:lpstr>
      <vt:lpstr>C언어의 다양한  연산자 소개</vt:lpstr>
      <vt:lpstr>대입 연산자와 산술 연산자</vt:lpstr>
      <vt:lpstr>복합 대입 연산자</vt:lpstr>
      <vt:lpstr>부호의 의미를 갖는 + 연산자와 - 연산자</vt:lpstr>
      <vt:lpstr>증가, 감소 연산자</vt:lpstr>
      <vt:lpstr>증가, 감소 연산자 추가 예제</vt:lpstr>
      <vt:lpstr>관계 연산자</vt:lpstr>
      <vt:lpstr>논리 연산자</vt:lpstr>
      <vt:lpstr>콤마 연산자</vt:lpstr>
      <vt:lpstr>연산자의 우선순위와 결합방향</vt:lpstr>
      <vt:lpstr>키보드로부터의 데이터 입력과 C언어의 키워드</vt:lpstr>
      <vt:lpstr>키보드로부터의 정수입력을 위한 scanf 함수의 호출</vt:lpstr>
      <vt:lpstr>입력의 형태를 다양하게 지정할 수 있다.</vt:lpstr>
      <vt:lpstr>C언어의 표준 키워드</vt:lpstr>
      <vt:lpstr>Chapter 04-1. 컴퓨터가 데이터를 표현하는 방식</vt:lpstr>
      <vt:lpstr>2진수란 무엇인가?  더불어 10진수, 16진수란 무엇인가?</vt:lpstr>
      <vt:lpstr>데이터의 표현단위인 비트(Bit)와 바이트(Byte)</vt:lpstr>
      <vt:lpstr>8진수와 16진수를 이용한 데이터 표현</vt:lpstr>
      <vt:lpstr>정수와 실수의 표현방식</vt:lpstr>
      <vt:lpstr>정수의 표현방식</vt:lpstr>
      <vt:lpstr>음의 정수 표현방식</vt:lpstr>
      <vt:lpstr>(실습1) 음수 표현 확인하기</vt:lpstr>
      <vt:lpstr>실수의 표현방식(시험)</vt:lpstr>
      <vt:lpstr>2. 자료의 표현 : 수치 자료의 표현</vt:lpstr>
      <vt:lpstr>2. 자료의 표현 : 수치 자료의 표현(시험)</vt:lpstr>
      <vt:lpstr>(실습2) 실수 표현 확인하기 (IEEE754)</vt:lpstr>
      <vt:lpstr>실수 표현의 오차 확인하기</vt:lpstr>
      <vt:lpstr>비트 연산자</vt:lpstr>
      <vt:lpstr>비트 연산자(비트 이동 연산자)</vt:lpstr>
      <vt:lpstr>&amp; 연산자: 비트단위 AND</vt:lpstr>
      <vt:lpstr>| 연산자: 비트단위 OR</vt:lpstr>
      <vt:lpstr>^ 연산자: 비트단위 XOR</vt:lpstr>
      <vt:lpstr>~ 연산자</vt:lpstr>
      <vt:lpstr>&lt;&lt; 연산자: 비트의 왼쪽 이동(Shift)</vt:lpstr>
      <vt:lpstr>&gt;&gt; 연산자: 비트의 오른쪽 이동(Shift)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윤성우의 열혈 TCP/IP 소켓 프로그래밍</dc:title>
  <dc:creator>yoon</dc:creator>
  <cp:lastModifiedBy>대식 정</cp:lastModifiedBy>
  <cp:revision>283</cp:revision>
  <dcterms:created xsi:type="dcterms:W3CDTF">2009-11-30T05:34:12Z</dcterms:created>
  <dcterms:modified xsi:type="dcterms:W3CDTF">2026-09-10T13:16:53Z</dcterms:modified>
</cp:coreProperties>
</file>